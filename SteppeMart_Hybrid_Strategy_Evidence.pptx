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">
            <a:extLst>
              <a:ext uri="{FF2B5EF4-FFF2-40B4-BE49-F238E27FC236}">
                <a16:creationId xmlns:a16="http://schemas.microsoft.com/office/drawing/2014/main" id="{70CF3850-2510-79DF-65B9-3C266F80333F}"/>
              </a:ext>
            </a:extLst>
          </p:cNvPr>
          <p:cNvSpPr txBox="1"/>
          <p:nvPr/>
        </p:nvSpPr>
        <p:spPr>
          <a:xfrm>
            <a:off x="586740" y="283464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600" b="1">
                <a:solidFill>
                  <a:srgbClr val="1C2B3F"/>
                </a:solidFill>
                <a:latin typeface="Aptos"/>
              </a:defRPr>
            </a:pPr>
            <a:r>
              <a:t>Case 1 — Kaspi.kz: Why BUILD Can Create Value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3198B3DB-E025-833E-CA34-D86C9CB8AC17}"/>
              </a:ext>
            </a:extLst>
          </p:cNvPr>
          <p:cNvSpPr txBox="1"/>
          <p:nvPr/>
        </p:nvSpPr>
        <p:spPr>
          <a:xfrm>
            <a:off x="605028" y="832104"/>
            <a:ext cx="10972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50" b="0">
                <a:solidFill>
                  <a:srgbClr val="636C77"/>
                </a:solidFill>
                <a:latin typeface="Aptos"/>
              </a:defRPr>
            </a:pPr>
            <a:r>
              <a:t>Kazakhstan case • Built in-house digital ecosystem + real 2024 evidence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B3C9CD96-65BB-B99C-BD68-235470ED74C9}"/>
              </a:ext>
            </a:extLst>
          </p:cNvPr>
          <p:cNvSpPr txBox="1"/>
          <p:nvPr/>
        </p:nvSpPr>
        <p:spPr>
          <a:xfrm>
            <a:off x="705612" y="1335024"/>
            <a:ext cx="192024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800" b="1">
                <a:solidFill>
                  <a:srgbClr val="0A0A0A"/>
                </a:solidFill>
                <a:latin typeface="Aptos"/>
              </a:defRPr>
            </a:pPr>
            <a:r>
              <a:t>REAL PROJECT</a:t>
            </a:r>
            <a:br/>
            <a:r>
              <a:t>EVIDENCE</a:t>
            </a:r>
          </a:p>
        </p:txBody>
      </p:sp>
      <p:sp>
        <p:nvSpPr>
          <p:cNvPr id="16" name="Rounded Rectangle 4">
            <a:extLst>
              <a:ext uri="{FF2B5EF4-FFF2-40B4-BE49-F238E27FC236}">
                <a16:creationId xmlns:a16="http://schemas.microsoft.com/office/drawing/2014/main" id="{0F1E6EE6-431E-242F-F77E-9A46CC8E4C48}"/>
              </a:ext>
            </a:extLst>
          </p:cNvPr>
          <p:cNvSpPr/>
          <p:nvPr/>
        </p:nvSpPr>
        <p:spPr>
          <a:xfrm>
            <a:off x="2964180" y="1261872"/>
            <a:ext cx="2423160" cy="841248"/>
          </a:xfrm>
          <a:prstGeom prst="roundRect">
            <a:avLst/>
          </a:prstGeom>
          <a:solidFill>
            <a:srgbClr val="1C2B3F"/>
          </a:solidFill>
          <a:ln w="12700">
            <a:solidFill>
              <a:srgbClr val="1C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14.7M</a:t>
            </a:r>
            <a:br/>
            <a:r>
              <a:t>Average MAU</a:t>
            </a:r>
          </a:p>
        </p:txBody>
      </p:sp>
      <p:sp>
        <p:nvSpPr>
          <p:cNvPr id="17" name="Rounded Rectangle 5">
            <a:extLst>
              <a:ext uri="{FF2B5EF4-FFF2-40B4-BE49-F238E27FC236}">
                <a16:creationId xmlns:a16="http://schemas.microsoft.com/office/drawing/2014/main" id="{F2B4615D-1A11-EEF5-180E-304F3604F496}"/>
              </a:ext>
            </a:extLst>
          </p:cNvPr>
          <p:cNvSpPr/>
          <p:nvPr/>
        </p:nvSpPr>
        <p:spPr>
          <a:xfrm>
            <a:off x="5890260" y="1261872"/>
            <a:ext cx="2423160" cy="841248"/>
          </a:xfrm>
          <a:prstGeom prst="roundRect">
            <a:avLst/>
          </a:prstGeom>
          <a:solidFill>
            <a:srgbClr val="408787"/>
          </a:solidFill>
          <a:ln w="12700">
            <a:solidFill>
              <a:srgbClr val="4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737K</a:t>
            </a:r>
            <a:br/>
            <a:r>
              <a:t>Active merchants</a:t>
            </a:r>
          </a:p>
        </p:txBody>
      </p:sp>
      <p:sp>
        <p:nvSpPr>
          <p:cNvPr id="18" name="Rounded Rectangle 6">
            <a:extLst>
              <a:ext uri="{FF2B5EF4-FFF2-40B4-BE49-F238E27FC236}">
                <a16:creationId xmlns:a16="http://schemas.microsoft.com/office/drawing/2014/main" id="{0BCB77AB-8BF2-3440-5A54-DC1CAF773F82}"/>
              </a:ext>
            </a:extLst>
          </p:cNvPr>
          <p:cNvSpPr/>
          <p:nvPr/>
        </p:nvSpPr>
        <p:spPr>
          <a:xfrm>
            <a:off x="8816340" y="1261872"/>
            <a:ext cx="2423160" cy="841248"/>
          </a:xfrm>
          <a:prstGeom prst="roundRect">
            <a:avLst/>
          </a:prstGeom>
          <a:solidFill>
            <a:srgbClr val="45865E"/>
          </a:solidFill>
          <a:ln w="12700">
            <a:solidFill>
              <a:srgbClr val="458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+44% YoY</a:t>
            </a:r>
            <a:br/>
            <a:r>
              <a:t>Marketplace GMV</a:t>
            </a:r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5C2EE3EA-35DC-E726-45E2-D18BAFE53E82}"/>
              </a:ext>
            </a:extLst>
          </p:cNvPr>
          <p:cNvSpPr/>
          <p:nvPr/>
        </p:nvSpPr>
        <p:spPr>
          <a:xfrm>
            <a:off x="614172" y="2432304"/>
            <a:ext cx="2880360" cy="713232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4069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50" b="1">
                <a:solidFill>
                  <a:srgbClr val="23272D"/>
                </a:solidFill>
                <a:latin typeface="Aptos"/>
              </a:defRPr>
            </a:pPr>
            <a:r>
              <a:t>Consumer side</a:t>
            </a:r>
            <a:br/>
            <a:r>
              <a:t>Kaspi Super App</a:t>
            </a:r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012A6896-2566-9A30-876A-3302E3DBADB0}"/>
              </a:ext>
            </a:extLst>
          </p:cNvPr>
          <p:cNvSpPr/>
          <p:nvPr/>
        </p:nvSpPr>
        <p:spPr>
          <a:xfrm>
            <a:off x="4637532" y="2432304"/>
            <a:ext cx="2880360" cy="713232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4069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10" b="1">
                <a:solidFill>
                  <a:srgbClr val="23272D"/>
                </a:solidFill>
                <a:latin typeface="Aptos"/>
              </a:defRPr>
            </a:pPr>
            <a:r>
              <a:t>Integrated ecosystem</a:t>
            </a:r>
            <a:br/>
            <a:r>
              <a:t>Payments • Marketplace • Fintech</a:t>
            </a: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4E127844-F262-490C-FAD7-57118F1E5FF5}"/>
              </a:ext>
            </a:extLst>
          </p:cNvPr>
          <p:cNvSpPr/>
          <p:nvPr/>
        </p:nvSpPr>
        <p:spPr>
          <a:xfrm>
            <a:off x="8660892" y="2432304"/>
            <a:ext cx="2880360" cy="713232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458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50" b="1">
                <a:solidFill>
                  <a:srgbClr val="23272D"/>
                </a:solidFill>
                <a:latin typeface="Aptos"/>
              </a:defRPr>
            </a:pPr>
            <a:r>
              <a:t>Merchant side</a:t>
            </a:r>
            <a:br/>
            <a:r>
              <a:t>Kaspi Pay</a:t>
            </a:r>
          </a:p>
        </p:txBody>
      </p:sp>
      <p:cxnSp>
        <p:nvCxnSpPr>
          <p:cNvPr id="22" name="Connector 10">
            <a:extLst>
              <a:ext uri="{FF2B5EF4-FFF2-40B4-BE49-F238E27FC236}">
                <a16:creationId xmlns:a16="http://schemas.microsoft.com/office/drawing/2014/main" id="{133EFB07-7229-4AD2-FBB1-74EE450ECCC0}"/>
              </a:ext>
            </a:extLst>
          </p:cNvPr>
          <p:cNvCxnSpPr/>
          <p:nvPr/>
        </p:nvCxnSpPr>
        <p:spPr>
          <a:xfrm>
            <a:off x="3494532" y="2788920"/>
            <a:ext cx="1143000" cy="0"/>
          </a:xfrm>
          <a:prstGeom prst="line">
            <a:avLst/>
          </a:prstGeom>
          <a:ln w="20320">
            <a:solidFill>
              <a:srgbClr val="636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11">
            <a:extLst>
              <a:ext uri="{FF2B5EF4-FFF2-40B4-BE49-F238E27FC236}">
                <a16:creationId xmlns:a16="http://schemas.microsoft.com/office/drawing/2014/main" id="{94712309-821F-C08B-8B00-7F8F461E7122}"/>
              </a:ext>
            </a:extLst>
          </p:cNvPr>
          <p:cNvCxnSpPr/>
          <p:nvPr/>
        </p:nvCxnSpPr>
        <p:spPr>
          <a:xfrm>
            <a:off x="7517892" y="2788920"/>
            <a:ext cx="1143000" cy="0"/>
          </a:xfrm>
          <a:prstGeom prst="line">
            <a:avLst/>
          </a:prstGeom>
          <a:ln w="20320">
            <a:solidFill>
              <a:srgbClr val="636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12">
            <a:extLst>
              <a:ext uri="{FF2B5EF4-FFF2-40B4-BE49-F238E27FC236}">
                <a16:creationId xmlns:a16="http://schemas.microsoft.com/office/drawing/2014/main" id="{0FE8D89D-F357-BFF1-60EA-4F42835F7C90}"/>
              </a:ext>
            </a:extLst>
          </p:cNvPr>
          <p:cNvSpPr/>
          <p:nvPr/>
        </p:nvSpPr>
        <p:spPr>
          <a:xfrm>
            <a:off x="614172" y="3602736"/>
            <a:ext cx="2487168" cy="1572768"/>
          </a:xfrm>
          <a:prstGeom prst="roundRect">
            <a:avLst/>
          </a:prstGeom>
          <a:solidFill>
            <a:srgbClr val="F5F7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64592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20" b="1">
                <a:solidFill>
                  <a:srgbClr val="1C2B3F"/>
                </a:solidFill>
                <a:latin typeface="Aptos"/>
              </a:defRPr>
            </a:pPr>
            <a:r>
              <a:t>1. Application Type</a:t>
            </a:r>
          </a:p>
          <a:p>
            <a:pPr>
              <a:spcBef>
                <a:spcPts val="900"/>
              </a:spcBef>
              <a:defRPr sz="1160">
                <a:solidFill>
                  <a:srgbClr val="23272D"/>
                </a:solidFill>
                <a:latin typeface="Aptos"/>
              </a:defRPr>
            </a:pPr>
            <a:r>
              <a:t>Digital ecosystem built in-house.</a:t>
            </a:r>
            <a:br/>
            <a:r>
              <a:t>Payments, marketplace and fintech are connected.</a:t>
            </a:r>
          </a:p>
        </p:txBody>
      </p:sp>
      <p:sp>
        <p:nvSpPr>
          <p:cNvPr id="25" name="Rounded Rectangle 13">
            <a:extLst>
              <a:ext uri="{FF2B5EF4-FFF2-40B4-BE49-F238E27FC236}">
                <a16:creationId xmlns:a16="http://schemas.microsoft.com/office/drawing/2014/main" id="{76C87439-555F-46A8-219A-13876012A2D6}"/>
              </a:ext>
            </a:extLst>
          </p:cNvPr>
          <p:cNvSpPr/>
          <p:nvPr/>
        </p:nvSpPr>
        <p:spPr>
          <a:xfrm>
            <a:off x="3448812" y="3602736"/>
            <a:ext cx="2487168" cy="1572768"/>
          </a:xfrm>
          <a:prstGeom prst="roundRect">
            <a:avLst/>
          </a:prstGeom>
          <a:solidFill>
            <a:srgbClr val="F5F7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64592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20" b="1">
                <a:solidFill>
                  <a:srgbClr val="1C2B3F"/>
                </a:solidFill>
                <a:latin typeface="Aptos"/>
              </a:defRPr>
            </a:pPr>
            <a:r>
              <a:t>2. Opportunity</a:t>
            </a:r>
          </a:p>
          <a:p>
            <a:pPr>
              <a:spcBef>
                <a:spcPts val="900"/>
              </a:spcBef>
              <a:defRPr sz="1160">
                <a:solidFill>
                  <a:srgbClr val="23272D"/>
                </a:solidFill>
                <a:latin typeface="Aptos"/>
              </a:defRPr>
            </a:pPr>
            <a:r>
              <a:t>Integrate services on one platform and control the digital experience.</a:t>
            </a:r>
          </a:p>
        </p:txBody>
      </p:sp>
      <p:sp>
        <p:nvSpPr>
          <p:cNvPr id="26" name="Rounded Rectangle 14">
            <a:extLst>
              <a:ext uri="{FF2B5EF4-FFF2-40B4-BE49-F238E27FC236}">
                <a16:creationId xmlns:a16="http://schemas.microsoft.com/office/drawing/2014/main" id="{E0200F1A-B0BF-3804-A267-596E31F1CD2F}"/>
              </a:ext>
            </a:extLst>
          </p:cNvPr>
          <p:cNvSpPr/>
          <p:nvPr/>
        </p:nvSpPr>
        <p:spPr>
          <a:xfrm>
            <a:off x="6283452" y="3602736"/>
            <a:ext cx="2487168" cy="1572768"/>
          </a:xfrm>
          <a:prstGeom prst="roundRect">
            <a:avLst/>
          </a:prstGeom>
          <a:solidFill>
            <a:srgbClr val="F5F7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64592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20" b="1">
                <a:solidFill>
                  <a:srgbClr val="1C2B3F"/>
                </a:solidFill>
                <a:latin typeface="Aptos"/>
              </a:defRPr>
            </a:pPr>
            <a:r>
              <a:t>3. Challenge</a:t>
            </a:r>
          </a:p>
          <a:p>
            <a:pPr>
              <a:spcBef>
                <a:spcPts val="900"/>
              </a:spcBef>
              <a:defRPr sz="1160">
                <a:solidFill>
                  <a:srgbClr val="23272D"/>
                </a:solidFill>
                <a:latin typeface="Aptos"/>
              </a:defRPr>
            </a:pPr>
            <a:r>
              <a:t>A large ecosystem requires strong technology, data and integration.</a:t>
            </a:r>
          </a:p>
        </p:txBody>
      </p:sp>
      <p:sp>
        <p:nvSpPr>
          <p:cNvPr id="27" name="Rounded Rectangle 15">
            <a:extLst>
              <a:ext uri="{FF2B5EF4-FFF2-40B4-BE49-F238E27FC236}">
                <a16:creationId xmlns:a16="http://schemas.microsoft.com/office/drawing/2014/main" id="{D775A9F3-0A3D-CC5D-C4A8-1086C4CB12CD}"/>
              </a:ext>
            </a:extLst>
          </p:cNvPr>
          <p:cNvSpPr/>
          <p:nvPr/>
        </p:nvSpPr>
        <p:spPr>
          <a:xfrm>
            <a:off x="9118092" y="3602736"/>
            <a:ext cx="2487168" cy="1572768"/>
          </a:xfrm>
          <a:prstGeom prst="roundRect">
            <a:avLst/>
          </a:prstGeom>
          <a:solidFill>
            <a:srgbClr val="F5F7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28016" rIns="164592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20" b="1">
                <a:solidFill>
                  <a:srgbClr val="1C2B3F"/>
                </a:solidFill>
                <a:latin typeface="Aptos"/>
              </a:defRPr>
            </a:pPr>
            <a:r>
              <a:t>4. Success Factor</a:t>
            </a:r>
          </a:p>
          <a:p>
            <a:pPr>
              <a:spcBef>
                <a:spcPts val="900"/>
              </a:spcBef>
              <a:defRPr sz="1160">
                <a:solidFill>
                  <a:srgbClr val="23272D"/>
                </a:solidFill>
                <a:latin typeface="Aptos"/>
              </a:defRPr>
            </a:pPr>
            <a:r>
              <a:t>Own the platform and data; connect consumers and merchants.</a:t>
            </a:r>
          </a:p>
        </p:txBody>
      </p:sp>
      <p:sp>
        <p:nvSpPr>
          <p:cNvPr id="28" name="Rounded Rectangle 16">
            <a:extLst>
              <a:ext uri="{FF2B5EF4-FFF2-40B4-BE49-F238E27FC236}">
                <a16:creationId xmlns:a16="http://schemas.microsoft.com/office/drawing/2014/main" id="{CB9841F3-773E-939A-40EC-781F39DB76B9}"/>
              </a:ext>
            </a:extLst>
          </p:cNvPr>
          <p:cNvSpPr/>
          <p:nvPr/>
        </p:nvSpPr>
        <p:spPr>
          <a:xfrm>
            <a:off x="614172" y="5596128"/>
            <a:ext cx="109270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70" b="1">
                <a:solidFill>
                  <a:srgbClr val="1C2B3F"/>
                </a:solidFill>
                <a:latin typeface="Aptos"/>
              </a:defRPr>
            </a:pPr>
            <a:r>
              <a:t>Lesson for SteppeMart: Build selected digital services when they create differentiation — do not build every standard core process.</a:t>
            </a:r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BF7C09D3-0732-F3CF-BF75-79C83A5C55BA}"/>
              </a:ext>
            </a:extLst>
          </p:cNvPr>
          <p:cNvSpPr txBox="1"/>
          <p:nvPr/>
        </p:nvSpPr>
        <p:spPr>
          <a:xfrm>
            <a:off x="632460" y="6391656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720" b="0">
                <a:solidFill>
                  <a:srgbClr val="636C77"/>
                </a:solidFill>
                <a:latin typeface="Aptos"/>
              </a:defRPr>
            </a:pPr>
            <a:r>
              <a:t>Sources: Kaspi.kz Form 20-F 2024 and FY2024 Results; course lecture (Kaspi case). Figures show ecosystem scale, not that BUILD alone caused growth.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" b="0">
                <a:solidFill>
                  <a:srgbClr val="697078"/>
                </a:solidFill>
                <a:latin typeface="Aptos"/>
              </a:defRPr>
            </a:pPr>
            <a:r>
              <a:t>Sources: CIO, “18 famous ERP disasters…” (Lidl case); course lecture (Lidl: ~7 years, ~€500m, cancelled).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739"/>
                </a:solidFill>
                <a:latin typeface="Aptos Display"/>
              </a:defRPr>
            </a:pPr>
            <a:r>
              <a:t>Case 2 — Lidl: The Risk of Heavy ERP Customization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804672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8"/>
                </a:solidFill>
                <a:latin typeface="Aptos"/>
              </a:defRPr>
            </a:pPr>
            <a:r>
              <a:t>International case • Packaged SAP system + major process-fit problems</a:t>
            </a:r>
          </a:p>
        </p:txBody>
      </p:sp>
      <p:sp>
        <p:nvSpPr>
          <p:cNvPr id="28" name="Rounded Rectangle 3"/>
          <p:cNvSpPr/>
          <p:nvPr/>
        </p:nvSpPr>
        <p:spPr>
          <a:xfrm>
            <a:off x="3100070" y="1299001"/>
            <a:ext cx="2403856" cy="850387"/>
          </a:xfrm>
          <a:prstGeom prst="roundRect">
            <a:avLst/>
          </a:prstGeom>
          <a:solidFill>
            <a:srgbClr val="1A2739"/>
          </a:solidFill>
          <a:ln>
            <a:solidFill>
              <a:srgbClr val="1A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~7 YEARS</a:t>
            </a:r>
            <a:br/>
            <a:r>
              <a:t>2011 → 2018</a:t>
            </a:r>
          </a:p>
        </p:txBody>
      </p:sp>
      <p:sp>
        <p:nvSpPr>
          <p:cNvPr id="29" name="Rounded Rectangle 4"/>
          <p:cNvSpPr/>
          <p:nvPr/>
        </p:nvSpPr>
        <p:spPr>
          <a:xfrm>
            <a:off x="6007862" y="1289305"/>
            <a:ext cx="2403856" cy="850387"/>
          </a:xfrm>
          <a:prstGeom prst="roundRect">
            <a:avLst/>
          </a:prstGeom>
          <a:solidFill>
            <a:srgbClr val="AB4545"/>
          </a:solidFill>
          <a:ln>
            <a:solidFill>
              <a:srgbClr val="AB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rPr dirty="0"/>
              <a:t>~€500M</a:t>
            </a:r>
            <a:br>
              <a:rPr dirty="0"/>
            </a:br>
            <a:r>
              <a:rPr dirty="0"/>
              <a:t>spent</a:t>
            </a:r>
          </a:p>
        </p:txBody>
      </p:sp>
      <p:sp>
        <p:nvSpPr>
          <p:cNvPr id="30" name="Rounded Rectangle 5"/>
          <p:cNvSpPr/>
          <p:nvPr/>
        </p:nvSpPr>
        <p:spPr>
          <a:xfrm>
            <a:off x="8915654" y="1299002"/>
            <a:ext cx="2403856" cy="850387"/>
          </a:xfrm>
          <a:prstGeom prst="roundRect">
            <a:avLst/>
          </a:prstGeom>
          <a:solidFill>
            <a:srgbClr val="AB4545"/>
          </a:solidFill>
          <a:ln>
            <a:solidFill>
              <a:srgbClr val="AB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rPr dirty="0"/>
              <a:t>PROJECT</a:t>
            </a:r>
            <a:br>
              <a:rPr dirty="0"/>
            </a:br>
            <a:r>
              <a:rPr dirty="0"/>
              <a:t>CANCELLED</a:t>
            </a:r>
          </a:p>
        </p:txBody>
      </p:sp>
      <p:sp>
        <p:nvSpPr>
          <p:cNvPr id="31" name="Rounded Rectangle 6"/>
          <p:cNvSpPr/>
          <p:nvPr/>
        </p:nvSpPr>
        <p:spPr>
          <a:xfrm>
            <a:off x="697230" y="2425234"/>
            <a:ext cx="2971800" cy="716280"/>
          </a:xfrm>
          <a:prstGeom prst="roundRect">
            <a:avLst/>
          </a:prstGeom>
          <a:solidFill>
            <a:srgbClr val="F4F7F9"/>
          </a:solidFill>
          <a:ln>
            <a:solidFill>
              <a:srgbClr val="396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72D"/>
                </a:solidFill>
                <a:latin typeface="Aptos"/>
              </a:defRPr>
            </a:pPr>
            <a:r>
              <a:t>Lidl process</a:t>
            </a:r>
            <a:br/>
            <a:r>
              <a:t>Inventory at purchase price</a:t>
            </a:r>
          </a:p>
        </p:txBody>
      </p:sp>
      <p:sp>
        <p:nvSpPr>
          <p:cNvPr id="32" name="Rounded Rectangle 7"/>
          <p:cNvSpPr/>
          <p:nvPr/>
        </p:nvSpPr>
        <p:spPr>
          <a:xfrm>
            <a:off x="4491990" y="2425234"/>
            <a:ext cx="2971800" cy="716280"/>
          </a:xfrm>
          <a:prstGeom prst="roundRect">
            <a:avLst/>
          </a:prstGeom>
          <a:solidFill>
            <a:srgbClr val="F4F7F9"/>
          </a:solidFill>
          <a:ln>
            <a:solidFill>
              <a:srgbClr val="396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72D"/>
                </a:solidFill>
                <a:latin typeface="Aptos"/>
              </a:defRPr>
            </a:pPr>
            <a:r>
              <a:rPr dirty="0"/>
              <a:t>Standard system logic</a:t>
            </a:r>
            <a:br>
              <a:rPr dirty="0"/>
            </a:br>
            <a:r>
              <a:rPr lang="ru-KZ" sz="1400" b="1" dirty="0" err="1">
                <a:solidFill>
                  <a:srgbClr val="23272D"/>
                </a:solidFill>
                <a:latin typeface="Aptos"/>
              </a:rPr>
              <a:t>Inventory</a:t>
            </a:r>
            <a:r>
              <a:rPr lang="ru-KZ" sz="1400" b="1" dirty="0">
                <a:solidFill>
                  <a:srgbClr val="23272D"/>
                </a:solidFill>
                <a:latin typeface="Aptos"/>
              </a:rPr>
              <a:t> </a:t>
            </a:r>
            <a:r>
              <a:rPr lang="ru-KZ" sz="1400" b="1" dirty="0" err="1">
                <a:solidFill>
                  <a:srgbClr val="23272D"/>
                </a:solidFill>
                <a:latin typeface="Aptos"/>
              </a:rPr>
              <a:t>based</a:t>
            </a:r>
            <a:r>
              <a:rPr lang="ru-KZ" sz="1400" b="1" dirty="0">
                <a:solidFill>
                  <a:srgbClr val="23272D"/>
                </a:solidFill>
                <a:latin typeface="Aptos"/>
              </a:rPr>
              <a:t> </a:t>
            </a:r>
            <a:r>
              <a:rPr lang="ru-KZ" sz="1400" b="1" dirty="0" err="1">
                <a:solidFill>
                  <a:srgbClr val="23272D"/>
                </a:solidFill>
                <a:latin typeface="Aptos"/>
              </a:rPr>
              <a:t>on</a:t>
            </a:r>
            <a:r>
              <a:rPr lang="ru-KZ" sz="1400" b="1" dirty="0">
                <a:solidFill>
                  <a:srgbClr val="23272D"/>
                </a:solidFill>
                <a:latin typeface="Aptos"/>
              </a:rPr>
              <a:t> </a:t>
            </a:r>
            <a:r>
              <a:rPr lang="ru-KZ" sz="1400" b="1" dirty="0" err="1">
                <a:solidFill>
                  <a:srgbClr val="23272D"/>
                </a:solidFill>
                <a:latin typeface="Aptos"/>
              </a:rPr>
              <a:t>retail</a:t>
            </a:r>
            <a:r>
              <a:rPr lang="ru-KZ" sz="1400" b="1" dirty="0">
                <a:solidFill>
                  <a:srgbClr val="23272D"/>
                </a:solidFill>
                <a:latin typeface="Aptos"/>
              </a:rPr>
              <a:t> </a:t>
            </a:r>
            <a:r>
              <a:rPr lang="ru-KZ" sz="1400" b="1" dirty="0" err="1">
                <a:solidFill>
                  <a:srgbClr val="23272D"/>
                </a:solidFill>
                <a:latin typeface="Aptos"/>
              </a:rPr>
              <a:t>price</a:t>
            </a:r>
            <a:endParaRPr dirty="0"/>
          </a:p>
        </p:txBody>
      </p:sp>
      <p:sp>
        <p:nvSpPr>
          <p:cNvPr id="33" name="Rounded Rectangle 8"/>
          <p:cNvSpPr/>
          <p:nvPr/>
        </p:nvSpPr>
        <p:spPr>
          <a:xfrm>
            <a:off x="8286750" y="2425234"/>
            <a:ext cx="2971800" cy="716280"/>
          </a:xfrm>
          <a:prstGeom prst="roundRect">
            <a:avLst/>
          </a:prstGeom>
          <a:solidFill>
            <a:srgbClr val="F4F7F9"/>
          </a:solidFill>
          <a:ln>
            <a:solidFill>
              <a:srgbClr val="AB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72D"/>
                </a:solidFill>
                <a:latin typeface="Aptos"/>
              </a:defRPr>
            </a:pPr>
            <a:r>
              <a:t>Result</a:t>
            </a:r>
            <a:br/>
            <a:r>
              <a:t>Heavy customization</a:t>
            </a:r>
          </a:p>
        </p:txBody>
      </p:sp>
      <p:cxnSp>
        <p:nvCxnSpPr>
          <p:cNvPr id="34" name="Connector 9"/>
          <p:cNvCxnSpPr>
            <a:cxnSpLocks/>
          </p:cNvCxnSpPr>
          <p:nvPr/>
        </p:nvCxnSpPr>
        <p:spPr>
          <a:xfrm>
            <a:off x="3669030" y="2765594"/>
            <a:ext cx="822960" cy="0"/>
          </a:xfrm>
          <a:prstGeom prst="line">
            <a:avLst/>
          </a:prstGeom>
          <a:ln w="2286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10"/>
          <p:cNvCxnSpPr>
            <a:cxnSpLocks/>
          </p:cNvCxnSpPr>
          <p:nvPr/>
        </p:nvCxnSpPr>
        <p:spPr>
          <a:xfrm>
            <a:off x="7463790" y="2765594"/>
            <a:ext cx="822960" cy="0"/>
          </a:xfrm>
          <a:prstGeom prst="line">
            <a:avLst/>
          </a:prstGeom>
          <a:ln w="2286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11"/>
          <p:cNvSpPr/>
          <p:nvPr/>
        </p:nvSpPr>
        <p:spPr>
          <a:xfrm>
            <a:off x="697230" y="5642408"/>
            <a:ext cx="10622280" cy="50291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A2739"/>
                </a:solidFill>
                <a:latin typeface="Aptos"/>
              </a:defRPr>
            </a:pPr>
            <a:r>
              <a:rPr lang="ru-KZ" sz="1500" b="1" dirty="0" err="1">
                <a:solidFill>
                  <a:srgbClr val="1A2739"/>
                </a:solidFill>
                <a:latin typeface="Aptos"/>
              </a:rPr>
              <a:t>Lesson</a:t>
            </a:r>
            <a:r>
              <a:rPr lang="ru-KZ" sz="1500" b="1" dirty="0">
                <a:solidFill>
                  <a:srgbClr val="1A2739"/>
                </a:solidFill>
                <a:latin typeface="Aptos"/>
              </a:rPr>
              <a:t> </a:t>
            </a:r>
            <a:r>
              <a:rPr lang="ru-KZ" sz="1500" b="1" dirty="0" err="1">
                <a:solidFill>
                  <a:srgbClr val="1A2739"/>
                </a:solidFill>
                <a:latin typeface="Aptos"/>
              </a:rPr>
              <a:t>for</a:t>
            </a:r>
            <a:r>
              <a:rPr lang="ru-KZ" sz="1500" b="1" dirty="0">
                <a:solidFill>
                  <a:srgbClr val="1A2739"/>
                </a:solidFill>
                <a:latin typeface="Aptos"/>
              </a:rPr>
              <a:t> </a:t>
            </a:r>
            <a:r>
              <a:rPr lang="ru-KZ" sz="1500" b="1" dirty="0" err="1">
                <a:solidFill>
                  <a:srgbClr val="1A2739"/>
                </a:solidFill>
                <a:latin typeface="Aptos"/>
              </a:rPr>
              <a:t>SteppeMart</a:t>
            </a:r>
            <a:r>
              <a:rPr lang="ru-KZ" sz="1500" b="1" dirty="0">
                <a:solidFill>
                  <a:srgbClr val="1A2739"/>
                </a:solidFill>
                <a:latin typeface="Aptos"/>
              </a:rPr>
              <a:t>: </a:t>
            </a:r>
            <a:r>
              <a:rPr lang="ru-KZ" sz="1500" b="1" dirty="0" err="1">
                <a:solidFill>
                  <a:srgbClr val="1A2739"/>
                </a:solidFill>
                <a:latin typeface="Aptos"/>
              </a:rPr>
              <a:t>Keep</a:t>
            </a:r>
            <a:r>
              <a:rPr lang="ru-KZ" sz="1500" b="1" dirty="0">
                <a:solidFill>
                  <a:srgbClr val="1A2739"/>
                </a:solidFill>
                <a:latin typeface="Aptos"/>
              </a:rPr>
              <a:t> </a:t>
            </a:r>
            <a:r>
              <a:rPr lang="ru-KZ" sz="1500" b="1" dirty="0" err="1">
                <a:solidFill>
                  <a:srgbClr val="1A2739"/>
                </a:solidFill>
                <a:latin typeface="Aptos"/>
              </a:rPr>
              <a:t>the</a:t>
            </a:r>
            <a:r>
              <a:rPr lang="ru-KZ" sz="1500" b="1" dirty="0">
                <a:solidFill>
                  <a:srgbClr val="1A2739"/>
                </a:solidFill>
                <a:latin typeface="Aptos"/>
              </a:rPr>
              <a:t> ERP </a:t>
            </a:r>
            <a:r>
              <a:rPr lang="ru-KZ" sz="1500" b="1" dirty="0" err="1">
                <a:solidFill>
                  <a:srgbClr val="1A2739"/>
                </a:solidFill>
                <a:latin typeface="Aptos"/>
              </a:rPr>
              <a:t>core</a:t>
            </a:r>
            <a:r>
              <a:rPr lang="ru-KZ" sz="1500" b="1" dirty="0">
                <a:solidFill>
                  <a:srgbClr val="1A2739"/>
                </a:solidFill>
                <a:latin typeface="Aptos"/>
              </a:rPr>
              <a:t> </a:t>
            </a:r>
            <a:r>
              <a:rPr lang="ru-KZ" sz="1500" b="1" dirty="0" err="1">
                <a:solidFill>
                  <a:srgbClr val="1A2739"/>
                </a:solidFill>
                <a:latin typeface="Aptos"/>
              </a:rPr>
              <a:t>standard</a:t>
            </a:r>
            <a:r>
              <a:rPr lang="ru-KZ" sz="1500" b="1" dirty="0">
                <a:solidFill>
                  <a:srgbClr val="1A2739"/>
                </a:solidFill>
                <a:latin typeface="Aptos"/>
              </a:rPr>
              <a:t>. </a:t>
            </a:r>
            <a:r>
              <a:rPr lang="ru-KZ" sz="1500" b="1" dirty="0" err="1">
                <a:solidFill>
                  <a:srgbClr val="1A2739"/>
                </a:solidFill>
                <a:latin typeface="Aptos"/>
              </a:rPr>
              <a:t>Avoid</a:t>
            </a:r>
            <a:r>
              <a:rPr lang="ru-KZ" sz="1500" b="1" dirty="0">
                <a:solidFill>
                  <a:srgbClr val="1A2739"/>
                </a:solidFill>
                <a:latin typeface="Aptos"/>
              </a:rPr>
              <a:t> </a:t>
            </a:r>
            <a:r>
              <a:rPr lang="ru-KZ" sz="1500" b="1" dirty="0" err="1">
                <a:solidFill>
                  <a:srgbClr val="1A2739"/>
                </a:solidFill>
                <a:latin typeface="Aptos"/>
              </a:rPr>
              <a:t>heavy</a:t>
            </a:r>
            <a:r>
              <a:rPr lang="ru-KZ" sz="1500" b="1" dirty="0">
                <a:solidFill>
                  <a:srgbClr val="1A2739"/>
                </a:solidFill>
                <a:latin typeface="Aptos"/>
              </a:rPr>
              <a:t> </a:t>
            </a:r>
            <a:r>
              <a:rPr lang="ru-KZ" sz="1500" b="1" dirty="0" err="1">
                <a:solidFill>
                  <a:srgbClr val="1A2739"/>
                </a:solidFill>
                <a:latin typeface="Aptos"/>
              </a:rPr>
              <a:t>customization</a:t>
            </a:r>
            <a:r>
              <a:rPr lang="ru-KZ" sz="1500" b="1" dirty="0">
                <a:solidFill>
                  <a:srgbClr val="1A2739"/>
                </a:solidFill>
                <a:latin typeface="Aptos"/>
              </a:rPr>
              <a:t> </a:t>
            </a:r>
            <a:r>
              <a:rPr lang="ru-KZ" sz="1500" b="1" dirty="0" err="1">
                <a:solidFill>
                  <a:srgbClr val="1A2739"/>
                </a:solidFill>
                <a:latin typeface="Aptos"/>
              </a:rPr>
              <a:t>unless</a:t>
            </a:r>
            <a:r>
              <a:rPr lang="ru-KZ" sz="1500" b="1" dirty="0">
                <a:solidFill>
                  <a:srgbClr val="1A2739"/>
                </a:solidFill>
                <a:latin typeface="Aptos"/>
              </a:rPr>
              <a:t> </a:t>
            </a:r>
            <a:r>
              <a:rPr lang="ru-KZ" sz="1500" b="1" dirty="0" err="1">
                <a:solidFill>
                  <a:srgbClr val="1A2739"/>
                </a:solidFill>
                <a:latin typeface="Aptos"/>
              </a:rPr>
              <a:t>it</a:t>
            </a:r>
            <a:r>
              <a:rPr lang="ru-KZ" sz="1500" b="1" dirty="0">
                <a:solidFill>
                  <a:srgbClr val="1A2739"/>
                </a:solidFill>
                <a:latin typeface="Aptos"/>
              </a:rPr>
              <a:t> </a:t>
            </a:r>
            <a:r>
              <a:rPr lang="ru-KZ" sz="1500" b="1" dirty="0" err="1">
                <a:solidFill>
                  <a:srgbClr val="1A2739"/>
                </a:solidFill>
                <a:latin typeface="Aptos"/>
              </a:rPr>
              <a:t>creates</a:t>
            </a:r>
            <a:r>
              <a:rPr lang="ru-KZ" sz="1500" b="1" dirty="0">
                <a:solidFill>
                  <a:srgbClr val="1A2739"/>
                </a:solidFill>
                <a:latin typeface="Aptos"/>
              </a:rPr>
              <a:t> </a:t>
            </a:r>
            <a:r>
              <a:rPr lang="ru-KZ" sz="1500" b="1" dirty="0" err="1">
                <a:solidFill>
                  <a:srgbClr val="1A2739"/>
                </a:solidFill>
                <a:latin typeface="Aptos"/>
              </a:rPr>
              <a:t>real</a:t>
            </a:r>
            <a:r>
              <a:rPr lang="ru-KZ" sz="1500" b="1" dirty="0">
                <a:solidFill>
                  <a:srgbClr val="1A2739"/>
                </a:solidFill>
                <a:latin typeface="Aptos"/>
              </a:rPr>
              <a:t> </a:t>
            </a:r>
            <a:r>
              <a:rPr lang="ru-KZ" sz="1500" b="1" dirty="0" err="1">
                <a:solidFill>
                  <a:srgbClr val="1A2739"/>
                </a:solidFill>
                <a:latin typeface="Aptos"/>
              </a:rPr>
              <a:t>business</a:t>
            </a:r>
            <a:r>
              <a:rPr lang="ru-KZ" sz="1500" b="1" dirty="0">
                <a:solidFill>
                  <a:srgbClr val="1A2739"/>
                </a:solidFill>
                <a:latin typeface="Aptos"/>
              </a:rPr>
              <a:t> </a:t>
            </a:r>
            <a:r>
              <a:rPr lang="ru-KZ" sz="1500" b="1" dirty="0" err="1">
                <a:solidFill>
                  <a:srgbClr val="1A2739"/>
                </a:solidFill>
                <a:latin typeface="Aptos"/>
              </a:rPr>
              <a:t>value</a:t>
            </a:r>
            <a:r>
              <a:rPr lang="ru-KZ" sz="1500" b="1" dirty="0">
                <a:solidFill>
                  <a:srgbClr val="1A2739"/>
                </a:solidFill>
                <a:latin typeface="Aptos"/>
              </a:rPr>
              <a:t>.</a:t>
            </a:r>
            <a:endParaRPr dirty="0"/>
          </a:p>
        </p:txBody>
      </p:sp>
      <p:sp>
        <p:nvSpPr>
          <p:cNvPr id="37" name="Rounded Rectangle 3">
            <a:extLst>
              <a:ext uri="{FF2B5EF4-FFF2-40B4-BE49-F238E27FC236}">
                <a16:creationId xmlns:a16="http://schemas.microsoft.com/office/drawing/2014/main" id="{9868EB1F-F122-2DEE-6CC3-197B4E2F50C6}"/>
              </a:ext>
            </a:extLst>
          </p:cNvPr>
          <p:cNvSpPr/>
          <p:nvPr/>
        </p:nvSpPr>
        <p:spPr>
          <a:xfrm>
            <a:off x="697230" y="3589571"/>
            <a:ext cx="2328280" cy="1601723"/>
          </a:xfrm>
          <a:prstGeom prst="roundRect">
            <a:avLst/>
          </a:prstGeom>
          <a:solidFill>
            <a:srgbClr val="F2F5F8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0"/>
              </a:spcAft>
              <a:defRPr sz="1700" b="1">
                <a:solidFill>
                  <a:srgbClr val="1F2D3D"/>
                </a:solidFill>
              </a:defRPr>
            </a:pPr>
            <a:r>
              <a:rPr dirty="0"/>
              <a:t>1. Application Type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SAP merchandise system — packaged software that was heavily customized.</a:t>
            </a:r>
          </a:p>
        </p:txBody>
      </p:sp>
      <p:sp>
        <p:nvSpPr>
          <p:cNvPr id="38" name="Rounded Rectangle 4">
            <a:extLst>
              <a:ext uri="{FF2B5EF4-FFF2-40B4-BE49-F238E27FC236}">
                <a16:creationId xmlns:a16="http://schemas.microsoft.com/office/drawing/2014/main" id="{ADFA2016-6CCA-E5E8-993D-AFD916231C81}"/>
              </a:ext>
            </a:extLst>
          </p:cNvPr>
          <p:cNvSpPr/>
          <p:nvPr/>
        </p:nvSpPr>
        <p:spPr>
          <a:xfrm>
            <a:off x="3465674" y="3589571"/>
            <a:ext cx="2328280" cy="1601723"/>
          </a:xfrm>
          <a:prstGeom prst="roundRect">
            <a:avLst/>
          </a:prstGeom>
          <a:solidFill>
            <a:srgbClr val="F2F5F8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0"/>
              </a:spcAft>
              <a:defRPr sz="1700" b="1">
                <a:solidFill>
                  <a:srgbClr val="1F2D3D"/>
                </a:solidFill>
              </a:defRPr>
            </a:pPr>
            <a:r>
              <a:rPr dirty="0"/>
              <a:t>2. Opportunity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lang="ru-KZ" sz="1400" dirty="0" err="1">
                <a:solidFill>
                  <a:srgbClr val="232323"/>
                </a:solidFill>
              </a:rPr>
              <a:t>Replace</a:t>
            </a:r>
            <a:r>
              <a:rPr lang="ru-KZ" sz="1400" dirty="0">
                <a:solidFill>
                  <a:srgbClr val="232323"/>
                </a:solidFill>
              </a:rPr>
              <a:t> </a:t>
            </a:r>
            <a:r>
              <a:rPr lang="ru-KZ" sz="1400" dirty="0" err="1">
                <a:solidFill>
                  <a:srgbClr val="232323"/>
                </a:solidFill>
              </a:rPr>
              <a:t>the</a:t>
            </a:r>
            <a:r>
              <a:rPr lang="ru-KZ" sz="1400" dirty="0">
                <a:solidFill>
                  <a:srgbClr val="232323"/>
                </a:solidFill>
              </a:rPr>
              <a:t> </a:t>
            </a:r>
            <a:r>
              <a:rPr lang="ru-KZ" sz="1400" dirty="0" err="1">
                <a:solidFill>
                  <a:srgbClr val="232323"/>
                </a:solidFill>
              </a:rPr>
              <a:t>old</a:t>
            </a:r>
            <a:r>
              <a:rPr lang="ru-KZ" sz="1400" dirty="0">
                <a:solidFill>
                  <a:srgbClr val="232323"/>
                </a:solidFill>
              </a:rPr>
              <a:t> </a:t>
            </a:r>
            <a:r>
              <a:rPr lang="ru-KZ" sz="1400" dirty="0" err="1">
                <a:solidFill>
                  <a:srgbClr val="232323"/>
                </a:solidFill>
              </a:rPr>
              <a:t>legacy</a:t>
            </a:r>
            <a:r>
              <a:rPr lang="ru-KZ" sz="1400" dirty="0">
                <a:solidFill>
                  <a:srgbClr val="232323"/>
                </a:solidFill>
              </a:rPr>
              <a:t> </a:t>
            </a:r>
            <a:r>
              <a:rPr lang="ru-KZ" sz="1400" dirty="0" err="1">
                <a:solidFill>
                  <a:srgbClr val="232323"/>
                </a:solidFill>
              </a:rPr>
              <a:t>system</a:t>
            </a:r>
            <a:r>
              <a:rPr lang="ru-KZ" sz="1400" dirty="0">
                <a:solidFill>
                  <a:srgbClr val="232323"/>
                </a:solidFill>
              </a:rPr>
              <a:t> </a:t>
            </a:r>
            <a:r>
              <a:rPr lang="ru-KZ" sz="1400" dirty="0" err="1">
                <a:solidFill>
                  <a:srgbClr val="232323"/>
                </a:solidFill>
              </a:rPr>
              <a:t>and</a:t>
            </a:r>
            <a:r>
              <a:rPr lang="ru-KZ" sz="1400" dirty="0">
                <a:solidFill>
                  <a:srgbClr val="232323"/>
                </a:solidFill>
              </a:rPr>
              <a:t> </a:t>
            </a:r>
            <a:r>
              <a:rPr lang="ru-KZ" sz="1400" dirty="0" err="1">
                <a:solidFill>
                  <a:srgbClr val="232323"/>
                </a:solidFill>
              </a:rPr>
              <a:t>create</a:t>
            </a:r>
            <a:r>
              <a:rPr lang="ru-KZ" sz="1400" dirty="0">
                <a:solidFill>
                  <a:srgbClr val="232323"/>
                </a:solidFill>
              </a:rPr>
              <a:t> a </a:t>
            </a:r>
            <a:r>
              <a:rPr lang="ru-KZ" sz="1400" dirty="0" err="1">
                <a:solidFill>
                  <a:srgbClr val="232323"/>
                </a:solidFill>
              </a:rPr>
              <a:t>modern</a:t>
            </a:r>
            <a:r>
              <a:rPr lang="ru-KZ" sz="1400" dirty="0">
                <a:solidFill>
                  <a:srgbClr val="232323"/>
                </a:solidFill>
              </a:rPr>
              <a:t> </a:t>
            </a:r>
            <a:r>
              <a:rPr lang="ru-KZ" sz="1400" dirty="0" err="1">
                <a:solidFill>
                  <a:srgbClr val="232323"/>
                </a:solidFill>
              </a:rPr>
              <a:t>system</a:t>
            </a:r>
            <a:r>
              <a:rPr lang="ru-KZ" sz="1400" dirty="0">
                <a:solidFill>
                  <a:srgbClr val="232323"/>
                </a:solidFill>
              </a:rPr>
              <a:t> </a:t>
            </a:r>
            <a:r>
              <a:rPr lang="ru-KZ" sz="1400" dirty="0" err="1">
                <a:solidFill>
                  <a:srgbClr val="232323"/>
                </a:solidFill>
              </a:rPr>
              <a:t>for</a:t>
            </a:r>
            <a:r>
              <a:rPr lang="ru-KZ" sz="1400" dirty="0">
                <a:solidFill>
                  <a:srgbClr val="232323"/>
                </a:solidFill>
              </a:rPr>
              <a:t> </a:t>
            </a:r>
            <a:r>
              <a:rPr lang="ru-KZ" sz="1400" dirty="0" err="1">
                <a:solidFill>
                  <a:srgbClr val="232323"/>
                </a:solidFill>
              </a:rPr>
              <a:t>merchandise</a:t>
            </a:r>
            <a:r>
              <a:rPr lang="ru-KZ" sz="1400" dirty="0">
                <a:solidFill>
                  <a:srgbClr val="232323"/>
                </a:solidFill>
              </a:rPr>
              <a:t> </a:t>
            </a:r>
            <a:r>
              <a:rPr lang="ru-KZ" sz="1400" dirty="0" err="1">
                <a:solidFill>
                  <a:srgbClr val="232323"/>
                </a:solidFill>
              </a:rPr>
              <a:t>management</a:t>
            </a:r>
            <a:r>
              <a:rPr lang="ru-KZ" sz="1400" dirty="0">
                <a:solidFill>
                  <a:srgbClr val="232323"/>
                </a:solidFill>
              </a:rPr>
              <a:t>.</a:t>
            </a:r>
            <a:endParaRPr dirty="0"/>
          </a:p>
        </p:txBody>
      </p:sp>
      <p:sp>
        <p:nvSpPr>
          <p:cNvPr id="39" name="Rounded Rectangle 5">
            <a:extLst>
              <a:ext uri="{FF2B5EF4-FFF2-40B4-BE49-F238E27FC236}">
                <a16:creationId xmlns:a16="http://schemas.microsoft.com/office/drawing/2014/main" id="{D083E2E8-841A-D173-1168-B72D81656E83}"/>
              </a:ext>
            </a:extLst>
          </p:cNvPr>
          <p:cNvSpPr/>
          <p:nvPr/>
        </p:nvSpPr>
        <p:spPr>
          <a:xfrm>
            <a:off x="6263426" y="3589571"/>
            <a:ext cx="2328280" cy="1601723"/>
          </a:xfrm>
          <a:prstGeom prst="roundRect">
            <a:avLst/>
          </a:prstGeom>
          <a:solidFill>
            <a:srgbClr val="F2F5F8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0"/>
              </a:spcAft>
              <a:defRPr sz="1700" b="1">
                <a:solidFill>
                  <a:srgbClr val="1F2D3D"/>
                </a:solidFill>
              </a:defRPr>
            </a:pPr>
            <a:r>
              <a:rPr dirty="0"/>
              <a:t>3. Challenge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lang="ru-KZ" sz="1400" dirty="0">
                <a:solidFill>
                  <a:srgbClr val="232323"/>
                </a:solidFill>
              </a:rPr>
              <a:t>Poor </a:t>
            </a:r>
            <a:r>
              <a:rPr lang="ru-KZ" sz="1400" dirty="0" err="1">
                <a:solidFill>
                  <a:srgbClr val="232323"/>
                </a:solidFill>
              </a:rPr>
              <a:t>process</a:t>
            </a:r>
            <a:r>
              <a:rPr lang="ru-KZ" sz="1400" dirty="0">
                <a:solidFill>
                  <a:srgbClr val="232323"/>
                </a:solidFill>
              </a:rPr>
              <a:t> </a:t>
            </a:r>
            <a:r>
              <a:rPr lang="ru-KZ" sz="1400" dirty="0" err="1">
                <a:solidFill>
                  <a:srgbClr val="232323"/>
                </a:solidFill>
              </a:rPr>
              <a:t>fit</a:t>
            </a:r>
            <a:r>
              <a:rPr lang="ru-KZ" sz="1400" dirty="0">
                <a:solidFill>
                  <a:srgbClr val="232323"/>
                </a:solidFill>
              </a:rPr>
              <a:t> </a:t>
            </a:r>
            <a:r>
              <a:rPr lang="ru-KZ" sz="1400" dirty="0" err="1">
                <a:solidFill>
                  <a:srgbClr val="232323"/>
                </a:solidFill>
              </a:rPr>
              <a:t>required</a:t>
            </a:r>
            <a:r>
              <a:rPr lang="ru-KZ" sz="1400" dirty="0">
                <a:solidFill>
                  <a:srgbClr val="232323"/>
                </a:solidFill>
              </a:rPr>
              <a:t> </a:t>
            </a:r>
            <a:r>
              <a:rPr lang="ru-KZ" sz="1400" dirty="0" err="1">
                <a:solidFill>
                  <a:srgbClr val="232323"/>
                </a:solidFill>
              </a:rPr>
              <a:t>heavy</a:t>
            </a:r>
            <a:r>
              <a:rPr lang="ru-KZ" sz="1400" dirty="0">
                <a:solidFill>
                  <a:srgbClr val="232323"/>
                </a:solidFill>
              </a:rPr>
              <a:t> </a:t>
            </a:r>
            <a:r>
              <a:rPr lang="ru-KZ" sz="1400" dirty="0" err="1">
                <a:solidFill>
                  <a:srgbClr val="232323"/>
                </a:solidFill>
              </a:rPr>
              <a:t>customization</a:t>
            </a:r>
            <a:r>
              <a:rPr lang="ru-KZ" sz="1400" dirty="0">
                <a:solidFill>
                  <a:srgbClr val="232323"/>
                </a:solidFill>
              </a:rPr>
              <a:t>, </a:t>
            </a:r>
            <a:r>
              <a:rPr lang="ru-KZ" sz="1400" dirty="0" err="1">
                <a:solidFill>
                  <a:srgbClr val="232323"/>
                </a:solidFill>
              </a:rPr>
              <a:t>which</a:t>
            </a:r>
            <a:r>
              <a:rPr lang="ru-KZ" sz="1400" dirty="0">
                <a:solidFill>
                  <a:srgbClr val="232323"/>
                </a:solidFill>
              </a:rPr>
              <a:t> </a:t>
            </a:r>
            <a:r>
              <a:rPr lang="ru-KZ" sz="1400" dirty="0" err="1">
                <a:solidFill>
                  <a:srgbClr val="232323"/>
                </a:solidFill>
              </a:rPr>
              <a:t>increased</a:t>
            </a:r>
            <a:r>
              <a:rPr lang="ru-KZ" sz="1400" dirty="0">
                <a:solidFill>
                  <a:srgbClr val="232323"/>
                </a:solidFill>
              </a:rPr>
              <a:t> </a:t>
            </a:r>
            <a:r>
              <a:rPr lang="ru-KZ" sz="1400" dirty="0" err="1">
                <a:solidFill>
                  <a:srgbClr val="232323"/>
                </a:solidFill>
              </a:rPr>
              <a:t>complexity</a:t>
            </a:r>
            <a:r>
              <a:rPr lang="ru-KZ" sz="1400" dirty="0">
                <a:solidFill>
                  <a:srgbClr val="232323"/>
                </a:solidFill>
              </a:rPr>
              <a:t>.</a:t>
            </a:r>
            <a:endParaRPr dirty="0"/>
          </a:p>
        </p:txBody>
      </p:sp>
      <p:sp>
        <p:nvSpPr>
          <p:cNvPr id="40" name="Rounded Rectangle 6">
            <a:extLst>
              <a:ext uri="{FF2B5EF4-FFF2-40B4-BE49-F238E27FC236}">
                <a16:creationId xmlns:a16="http://schemas.microsoft.com/office/drawing/2014/main" id="{B6166A22-06FC-1659-FECF-C6A5BCAE4E23}"/>
              </a:ext>
            </a:extLst>
          </p:cNvPr>
          <p:cNvSpPr/>
          <p:nvPr/>
        </p:nvSpPr>
        <p:spPr>
          <a:xfrm>
            <a:off x="9031870" y="3589570"/>
            <a:ext cx="2328280" cy="1601723"/>
          </a:xfrm>
          <a:prstGeom prst="roundRect">
            <a:avLst/>
          </a:prstGeom>
          <a:solidFill>
            <a:srgbClr val="F2F5F8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0"/>
              </a:spcAft>
              <a:defRPr sz="1700" b="1">
                <a:solidFill>
                  <a:srgbClr val="1F2D3D"/>
                </a:solidFill>
              </a:defRPr>
            </a:pPr>
            <a:r>
              <a:rPr dirty="0"/>
              <a:t>4. Success Factor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lang="ru-KZ" sz="1400" dirty="0">
                <a:solidFill>
                  <a:srgbClr val="232323"/>
                </a:solidFill>
              </a:rPr>
              <a:t>Process First </a:t>
            </a:r>
            <a:r>
              <a:rPr lang="ru-KZ" sz="1400" dirty="0" err="1">
                <a:solidFill>
                  <a:srgbClr val="232323"/>
                </a:solidFill>
              </a:rPr>
              <a:t>was</a:t>
            </a:r>
            <a:r>
              <a:rPr lang="ru-KZ" sz="1400" dirty="0">
                <a:solidFill>
                  <a:srgbClr val="232323"/>
                </a:solidFill>
              </a:rPr>
              <a:t> </a:t>
            </a:r>
            <a:r>
              <a:rPr lang="ru-KZ" sz="1400" dirty="0" err="1">
                <a:solidFill>
                  <a:srgbClr val="232323"/>
                </a:solidFill>
              </a:rPr>
              <a:t>missing</a:t>
            </a:r>
            <a:r>
              <a:rPr lang="ru-KZ" sz="1400" dirty="0">
                <a:solidFill>
                  <a:srgbClr val="232323"/>
                </a:solidFill>
              </a:rPr>
              <a:t>. Process </a:t>
            </a:r>
            <a:r>
              <a:rPr lang="ru-KZ" sz="1400" dirty="0" err="1">
                <a:solidFill>
                  <a:srgbClr val="232323"/>
                </a:solidFill>
              </a:rPr>
              <a:t>fit</a:t>
            </a:r>
            <a:r>
              <a:rPr lang="ru-KZ" sz="1400" dirty="0">
                <a:solidFill>
                  <a:srgbClr val="232323"/>
                </a:solidFill>
              </a:rPr>
              <a:t> </a:t>
            </a:r>
            <a:r>
              <a:rPr lang="ru-KZ" sz="1400" dirty="0" err="1">
                <a:solidFill>
                  <a:srgbClr val="232323"/>
                </a:solidFill>
              </a:rPr>
              <a:t>was</a:t>
            </a:r>
            <a:r>
              <a:rPr lang="ru-KZ" sz="1400" dirty="0">
                <a:solidFill>
                  <a:srgbClr val="232323"/>
                </a:solidFill>
              </a:rPr>
              <a:t> </a:t>
            </a:r>
            <a:r>
              <a:rPr lang="ru-KZ" sz="1400" dirty="0" err="1">
                <a:solidFill>
                  <a:srgbClr val="232323"/>
                </a:solidFill>
              </a:rPr>
              <a:t>not</a:t>
            </a:r>
            <a:r>
              <a:rPr lang="ru-KZ" sz="1400" dirty="0">
                <a:solidFill>
                  <a:srgbClr val="232323"/>
                </a:solidFill>
              </a:rPr>
              <a:t> </a:t>
            </a:r>
            <a:r>
              <a:rPr lang="ru-KZ" sz="1400" dirty="0" err="1">
                <a:solidFill>
                  <a:srgbClr val="232323"/>
                </a:solidFill>
              </a:rPr>
              <a:t>checked</a:t>
            </a:r>
            <a:r>
              <a:rPr lang="ru-KZ" sz="1400" dirty="0">
                <a:solidFill>
                  <a:srgbClr val="232323"/>
                </a:solidFill>
              </a:rPr>
              <a:t> </a:t>
            </a:r>
            <a:r>
              <a:rPr lang="ru-KZ" sz="1400" dirty="0" err="1">
                <a:solidFill>
                  <a:srgbClr val="232323"/>
                </a:solidFill>
              </a:rPr>
              <a:t>early</a:t>
            </a:r>
            <a:r>
              <a:rPr lang="ru-KZ" sz="1400" dirty="0">
                <a:solidFill>
                  <a:srgbClr val="232323"/>
                </a:solidFill>
              </a:rPr>
              <a:t> </a:t>
            </a:r>
            <a:r>
              <a:rPr lang="ru-KZ" sz="1400" dirty="0" err="1">
                <a:solidFill>
                  <a:srgbClr val="232323"/>
                </a:solidFill>
              </a:rPr>
              <a:t>enough</a:t>
            </a:r>
            <a:r>
              <a:rPr lang="ru-KZ" sz="1400" dirty="0">
                <a:solidFill>
                  <a:srgbClr val="232323"/>
                </a:solidFill>
              </a:rPr>
              <a:t>.</a:t>
            </a:r>
            <a:endParaRPr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18C17D-4A7A-9FCF-B3AF-7DA596FD206D}"/>
              </a:ext>
            </a:extLst>
          </p:cNvPr>
          <p:cNvSpPr txBox="1"/>
          <p:nvPr/>
        </p:nvSpPr>
        <p:spPr>
          <a:xfrm>
            <a:off x="697230" y="1308695"/>
            <a:ext cx="2402840" cy="850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KZ" sz="2400" b="1" dirty="0"/>
              <a:t>REAL PROJECT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20BA20D9-5190-E1A2-351E-C8FB1308BB33}"/>
              </a:ext>
            </a:extLst>
          </p:cNvPr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C2B3F"/>
                </a:solidFill>
                <a:latin typeface="Aptos"/>
              </a:defRPr>
            </a:pPr>
            <a:r>
              <a:t>What the Two Cases Tell SteppeMart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220270-8ED6-8AF2-24E7-598EC66C39BE}"/>
              </a:ext>
            </a:extLst>
          </p:cNvPr>
          <p:cNvSpPr txBox="1"/>
          <p:nvPr/>
        </p:nvSpPr>
        <p:spPr>
          <a:xfrm>
            <a:off x="621792" y="804672"/>
            <a:ext cx="10972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50" b="0">
                <a:solidFill>
                  <a:srgbClr val="636C77"/>
                </a:solidFill>
                <a:latin typeface="Aptos"/>
              </a:defRPr>
            </a:pPr>
            <a:r>
              <a:t>The strongest strategy is not an extreme choice — it combines the best lesson from each case.</a:t>
            </a:r>
          </a:p>
        </p:txBody>
      </p:sp>
      <p:sp>
        <p:nvSpPr>
          <p:cNvPr id="38" name="Rounded Rectangle 3">
            <a:extLst>
              <a:ext uri="{FF2B5EF4-FFF2-40B4-BE49-F238E27FC236}">
                <a16:creationId xmlns:a16="http://schemas.microsoft.com/office/drawing/2014/main" id="{7D42CE02-DC9F-E116-8BF1-8966BE7791A2}"/>
              </a:ext>
            </a:extLst>
          </p:cNvPr>
          <p:cNvSpPr/>
          <p:nvPr/>
        </p:nvSpPr>
        <p:spPr>
          <a:xfrm>
            <a:off x="717066" y="1234440"/>
            <a:ext cx="3401568" cy="566928"/>
          </a:xfrm>
          <a:prstGeom prst="roundRect">
            <a:avLst/>
          </a:prstGeom>
          <a:solidFill>
            <a:srgbClr val="4069A3"/>
          </a:solidFill>
          <a:ln>
            <a:solidFill>
              <a:srgbClr val="4069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20" b="1">
                <a:solidFill>
                  <a:srgbClr val="FFFFFF"/>
                </a:solidFill>
                <a:latin typeface="Aptos"/>
              </a:defRPr>
            </a:pPr>
            <a:r>
              <a:t>KASPI — BUILD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006B90-752D-17C0-460C-5051145DCACB}"/>
              </a:ext>
            </a:extLst>
          </p:cNvPr>
          <p:cNvSpPr txBox="1"/>
          <p:nvPr/>
        </p:nvSpPr>
        <p:spPr>
          <a:xfrm>
            <a:off x="899946" y="1938528"/>
            <a:ext cx="3017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4069A3"/>
                </a:solidFill>
                <a:latin typeface="Aptos"/>
              </a:defRPr>
            </a:pPr>
            <a:r>
              <a:t>WHAT WE LEARN</a:t>
            </a:r>
          </a:p>
        </p:txBody>
      </p:sp>
      <p:sp>
        <p:nvSpPr>
          <p:cNvPr id="40" name="Rounded Rectangle 5">
            <a:extLst>
              <a:ext uri="{FF2B5EF4-FFF2-40B4-BE49-F238E27FC236}">
                <a16:creationId xmlns:a16="http://schemas.microsoft.com/office/drawing/2014/main" id="{2FAABD4D-4FB0-198B-87B9-8B85248CC4CE}"/>
              </a:ext>
            </a:extLst>
          </p:cNvPr>
          <p:cNvSpPr/>
          <p:nvPr/>
        </p:nvSpPr>
        <p:spPr>
          <a:xfrm>
            <a:off x="826794" y="2267712"/>
            <a:ext cx="3182112" cy="914400"/>
          </a:xfrm>
          <a:prstGeom prst="roundRect">
            <a:avLst/>
          </a:prstGeom>
          <a:solidFill>
            <a:srgbClr val="F5F7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C2B3F"/>
                </a:solidFill>
                <a:latin typeface="Aptos"/>
              </a:defRPr>
            </a:pPr>
            <a:r>
              <a:t>Digital services can justify</a:t>
            </a:r>
            <a:br/>
            <a:r>
              <a:t>more control and flexibility.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74777D-2D68-4F65-815D-4B5584200489}"/>
              </a:ext>
            </a:extLst>
          </p:cNvPr>
          <p:cNvSpPr txBox="1"/>
          <p:nvPr/>
        </p:nvSpPr>
        <p:spPr>
          <a:xfrm>
            <a:off x="899946" y="3401568"/>
            <a:ext cx="30175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636C77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42" name="Rounded Rectangle 7">
            <a:extLst>
              <a:ext uri="{FF2B5EF4-FFF2-40B4-BE49-F238E27FC236}">
                <a16:creationId xmlns:a16="http://schemas.microsoft.com/office/drawing/2014/main" id="{11CFDFEB-C638-6055-3F92-2D29A06C5788}"/>
              </a:ext>
            </a:extLst>
          </p:cNvPr>
          <p:cNvSpPr/>
          <p:nvPr/>
        </p:nvSpPr>
        <p:spPr>
          <a:xfrm>
            <a:off x="826794" y="3703320"/>
            <a:ext cx="318211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4069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3272D"/>
                </a:solidFill>
                <a:latin typeface="Aptos"/>
              </a:defRPr>
            </a:pPr>
            <a:r>
              <a:t>14.7M MAU  •  737K merchants</a:t>
            </a:r>
            <a:br/>
            <a:r>
              <a:t>+44% Marketplace GMV YoY</a:t>
            </a:r>
          </a:p>
        </p:txBody>
      </p:sp>
      <p:sp>
        <p:nvSpPr>
          <p:cNvPr id="43" name="Rounded Rectangle 8">
            <a:extLst>
              <a:ext uri="{FF2B5EF4-FFF2-40B4-BE49-F238E27FC236}">
                <a16:creationId xmlns:a16="http://schemas.microsoft.com/office/drawing/2014/main" id="{5831C138-49E3-7E8F-25F1-D4B0B89E8B53}"/>
              </a:ext>
            </a:extLst>
          </p:cNvPr>
          <p:cNvSpPr/>
          <p:nvPr/>
        </p:nvSpPr>
        <p:spPr>
          <a:xfrm>
            <a:off x="4392954" y="1234440"/>
            <a:ext cx="3401568" cy="566928"/>
          </a:xfrm>
          <a:prstGeom prst="roundRect">
            <a:avLst/>
          </a:prstGeom>
          <a:solidFill>
            <a:srgbClr val="B54848"/>
          </a:solidFill>
          <a:ln>
            <a:solidFill>
              <a:srgbClr val="B5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20" b="1">
                <a:solidFill>
                  <a:srgbClr val="FFFFFF"/>
                </a:solidFill>
                <a:latin typeface="Aptos"/>
              </a:defRPr>
            </a:pPr>
            <a:r>
              <a:t>LIDL — BUY + HEAVY CUSTOMIZE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B4F110-EB52-86EC-3BB6-2CAD35064E8F}"/>
              </a:ext>
            </a:extLst>
          </p:cNvPr>
          <p:cNvSpPr txBox="1"/>
          <p:nvPr/>
        </p:nvSpPr>
        <p:spPr>
          <a:xfrm>
            <a:off x="4575834" y="1938528"/>
            <a:ext cx="3017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B54848"/>
                </a:solidFill>
                <a:latin typeface="Aptos"/>
              </a:defRPr>
            </a:pPr>
            <a:r>
              <a:t>WHAT WE LEARN</a:t>
            </a:r>
          </a:p>
        </p:txBody>
      </p:sp>
      <p:sp>
        <p:nvSpPr>
          <p:cNvPr id="45" name="Rounded Rectangle 10">
            <a:extLst>
              <a:ext uri="{FF2B5EF4-FFF2-40B4-BE49-F238E27FC236}">
                <a16:creationId xmlns:a16="http://schemas.microsoft.com/office/drawing/2014/main" id="{A4AE8AAF-BD9F-B989-2FA0-AFD468063312}"/>
              </a:ext>
            </a:extLst>
          </p:cNvPr>
          <p:cNvSpPr/>
          <p:nvPr/>
        </p:nvSpPr>
        <p:spPr>
          <a:xfrm>
            <a:off x="4502682" y="2267712"/>
            <a:ext cx="3182112" cy="914400"/>
          </a:xfrm>
          <a:prstGeom prst="roundRect">
            <a:avLst/>
          </a:prstGeom>
          <a:solidFill>
            <a:srgbClr val="F5F7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C2B3F"/>
                </a:solidFill>
                <a:latin typeface="Aptos"/>
              </a:defRPr>
            </a:pPr>
            <a:r>
              <a:t>Poor process fit can lead to</a:t>
            </a:r>
            <a:br/>
            <a:r>
              <a:t>costly, complex customization.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FDFA6FF-157E-6C59-096C-0F42128F11CF}"/>
              </a:ext>
            </a:extLst>
          </p:cNvPr>
          <p:cNvSpPr txBox="1"/>
          <p:nvPr/>
        </p:nvSpPr>
        <p:spPr>
          <a:xfrm>
            <a:off x="4575834" y="3401568"/>
            <a:ext cx="30175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636C77"/>
                </a:solidFill>
                <a:latin typeface="Aptos"/>
              </a:defRPr>
            </a:pPr>
            <a:r>
              <a:rPr dirty="0"/>
              <a:t>EVIDENCE</a:t>
            </a:r>
          </a:p>
        </p:txBody>
      </p:sp>
      <p:sp>
        <p:nvSpPr>
          <p:cNvPr id="47" name="Rounded Rectangle 12">
            <a:extLst>
              <a:ext uri="{FF2B5EF4-FFF2-40B4-BE49-F238E27FC236}">
                <a16:creationId xmlns:a16="http://schemas.microsoft.com/office/drawing/2014/main" id="{DBB6CAFF-B011-2734-A6DF-6ABFE1DE5F74}"/>
              </a:ext>
            </a:extLst>
          </p:cNvPr>
          <p:cNvSpPr/>
          <p:nvPr/>
        </p:nvSpPr>
        <p:spPr>
          <a:xfrm>
            <a:off x="4502682" y="3703320"/>
            <a:ext cx="318211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B5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3272D"/>
                </a:solidFill>
                <a:latin typeface="Aptos"/>
              </a:defRPr>
            </a:pPr>
            <a:r>
              <a:t>~7 years  •  ~€500M</a:t>
            </a:r>
            <a:br/>
            <a:r>
              <a:t>Project cancelled</a:t>
            </a:r>
          </a:p>
        </p:txBody>
      </p:sp>
      <p:sp>
        <p:nvSpPr>
          <p:cNvPr id="48" name="Rounded Rectangle 13">
            <a:extLst>
              <a:ext uri="{FF2B5EF4-FFF2-40B4-BE49-F238E27FC236}">
                <a16:creationId xmlns:a16="http://schemas.microsoft.com/office/drawing/2014/main" id="{2D2D38A6-EFDA-0875-CB49-4CC8F26D94C6}"/>
              </a:ext>
            </a:extLst>
          </p:cNvPr>
          <p:cNvSpPr/>
          <p:nvPr/>
        </p:nvSpPr>
        <p:spPr>
          <a:xfrm>
            <a:off x="8068842" y="1234440"/>
            <a:ext cx="3401568" cy="566928"/>
          </a:xfrm>
          <a:prstGeom prst="roundRect">
            <a:avLst/>
          </a:prstGeom>
          <a:solidFill>
            <a:srgbClr val="408787"/>
          </a:solidFill>
          <a:ln>
            <a:solidFill>
              <a:srgbClr val="4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20" b="1">
                <a:solidFill>
                  <a:srgbClr val="FFFFFF"/>
                </a:solidFill>
                <a:latin typeface="Aptos"/>
              </a:defRPr>
            </a:pPr>
            <a:r>
              <a:t>CLEAN-CORE PRINCIPLE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E4FB88-8BAF-63BD-7C5A-5C4479AF87F8}"/>
              </a:ext>
            </a:extLst>
          </p:cNvPr>
          <p:cNvSpPr txBox="1"/>
          <p:nvPr/>
        </p:nvSpPr>
        <p:spPr>
          <a:xfrm>
            <a:off x="8251721" y="1938528"/>
            <a:ext cx="3017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408787"/>
                </a:solidFill>
                <a:latin typeface="Aptos"/>
              </a:defRPr>
            </a:pPr>
            <a:r>
              <a:t>WHAT IT SUPPORTS</a:t>
            </a:r>
          </a:p>
        </p:txBody>
      </p:sp>
      <p:sp>
        <p:nvSpPr>
          <p:cNvPr id="50" name="Rounded Rectangle 15">
            <a:extLst>
              <a:ext uri="{FF2B5EF4-FFF2-40B4-BE49-F238E27FC236}">
                <a16:creationId xmlns:a16="http://schemas.microsoft.com/office/drawing/2014/main" id="{16A533EA-2473-F86D-0295-50A712595DB5}"/>
              </a:ext>
            </a:extLst>
          </p:cNvPr>
          <p:cNvSpPr/>
          <p:nvPr/>
        </p:nvSpPr>
        <p:spPr>
          <a:xfrm>
            <a:off x="8178569" y="2267712"/>
            <a:ext cx="3182112" cy="914400"/>
          </a:xfrm>
          <a:prstGeom prst="roundRect">
            <a:avLst/>
          </a:prstGeom>
          <a:solidFill>
            <a:srgbClr val="F5F7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C2B3F"/>
                </a:solidFill>
                <a:latin typeface="Aptos"/>
              </a:defRPr>
            </a:pPr>
            <a:r>
              <a:t>Keep standard processes in the</a:t>
            </a:r>
            <a:br/>
            <a:r>
              <a:t>core; extend only where needed.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F7678F-5B01-D62F-F1FC-49BACA9EA19B}"/>
              </a:ext>
            </a:extLst>
          </p:cNvPr>
          <p:cNvSpPr txBox="1"/>
          <p:nvPr/>
        </p:nvSpPr>
        <p:spPr>
          <a:xfrm>
            <a:off x="8251721" y="3401568"/>
            <a:ext cx="30175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636C77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52" name="Rounded Rectangle 17">
            <a:extLst>
              <a:ext uri="{FF2B5EF4-FFF2-40B4-BE49-F238E27FC236}">
                <a16:creationId xmlns:a16="http://schemas.microsoft.com/office/drawing/2014/main" id="{2C3603D0-B61E-5EA2-E4DC-CCDCA9FFF7BF}"/>
              </a:ext>
            </a:extLst>
          </p:cNvPr>
          <p:cNvSpPr/>
          <p:nvPr/>
        </p:nvSpPr>
        <p:spPr>
          <a:xfrm>
            <a:off x="8178569" y="3703320"/>
            <a:ext cx="318211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4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3272D"/>
                </a:solidFill>
                <a:latin typeface="Aptos"/>
              </a:defRPr>
            </a:pPr>
            <a:r>
              <a:t>80% less customization*</a:t>
            </a:r>
            <a:br/>
            <a:r>
              <a:t>80% standardized core processes*</a:t>
            </a:r>
          </a:p>
        </p:txBody>
      </p:sp>
      <p:cxnSp>
        <p:nvCxnSpPr>
          <p:cNvPr id="53" name="Connector 18">
            <a:extLst>
              <a:ext uri="{FF2B5EF4-FFF2-40B4-BE49-F238E27FC236}">
                <a16:creationId xmlns:a16="http://schemas.microsoft.com/office/drawing/2014/main" id="{7FFAB059-752A-31CF-72C8-0A8DAF066707}"/>
              </a:ext>
            </a:extLst>
          </p:cNvPr>
          <p:cNvCxnSpPr>
            <a:cxnSpLocks/>
          </p:cNvCxnSpPr>
          <p:nvPr/>
        </p:nvCxnSpPr>
        <p:spPr>
          <a:xfrm>
            <a:off x="2295144" y="4462272"/>
            <a:ext cx="1591056" cy="548640"/>
          </a:xfrm>
          <a:prstGeom prst="line">
            <a:avLst/>
          </a:prstGeom>
          <a:ln w="1778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19">
            <a:extLst>
              <a:ext uri="{FF2B5EF4-FFF2-40B4-BE49-F238E27FC236}">
                <a16:creationId xmlns:a16="http://schemas.microsoft.com/office/drawing/2014/main" id="{2A90493B-1562-3B49-0350-D4678E2DA319}"/>
              </a:ext>
            </a:extLst>
          </p:cNvPr>
          <p:cNvCxnSpPr>
            <a:cxnSpLocks/>
            <a:endCxn id="57" idx="0"/>
          </p:cNvCxnSpPr>
          <p:nvPr/>
        </p:nvCxnSpPr>
        <p:spPr>
          <a:xfrm flipH="1">
            <a:off x="6094476" y="4453128"/>
            <a:ext cx="1524" cy="557784"/>
          </a:xfrm>
          <a:prstGeom prst="line">
            <a:avLst/>
          </a:prstGeom>
          <a:ln w="1778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20">
            <a:extLst>
              <a:ext uri="{FF2B5EF4-FFF2-40B4-BE49-F238E27FC236}">
                <a16:creationId xmlns:a16="http://schemas.microsoft.com/office/drawing/2014/main" id="{A71B0208-0852-8596-4B83-31FAE7649208}"/>
              </a:ext>
            </a:extLst>
          </p:cNvPr>
          <p:cNvCxnSpPr>
            <a:cxnSpLocks/>
          </p:cNvCxnSpPr>
          <p:nvPr/>
        </p:nvCxnSpPr>
        <p:spPr>
          <a:xfrm flipH="1">
            <a:off x="8129015" y="4462272"/>
            <a:ext cx="1517905" cy="548640"/>
          </a:xfrm>
          <a:prstGeom prst="line">
            <a:avLst/>
          </a:prstGeom>
          <a:ln w="1778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4124E9C-859C-6F5C-12EE-777ECBA3EC25}"/>
              </a:ext>
            </a:extLst>
          </p:cNvPr>
          <p:cNvSpPr txBox="1"/>
          <p:nvPr/>
        </p:nvSpPr>
        <p:spPr>
          <a:xfrm>
            <a:off x="731520" y="4605062"/>
            <a:ext cx="1069848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636C77"/>
                </a:solidFill>
                <a:latin typeface="Aptos"/>
              </a:defRPr>
            </a:pPr>
            <a:r>
              <a:rPr dirty="0"/>
              <a:t>STEPPEMART SYNTHESIS</a:t>
            </a:r>
          </a:p>
        </p:txBody>
      </p:sp>
      <p:sp>
        <p:nvSpPr>
          <p:cNvPr id="57" name="Rounded Rectangle 22">
            <a:extLst>
              <a:ext uri="{FF2B5EF4-FFF2-40B4-BE49-F238E27FC236}">
                <a16:creationId xmlns:a16="http://schemas.microsoft.com/office/drawing/2014/main" id="{BB5BAABE-600D-0C1C-F3E4-2BD23828DA95}"/>
              </a:ext>
            </a:extLst>
          </p:cNvPr>
          <p:cNvSpPr/>
          <p:nvPr/>
        </p:nvSpPr>
        <p:spPr>
          <a:xfrm>
            <a:off x="960120" y="5010912"/>
            <a:ext cx="10268712" cy="777240"/>
          </a:xfrm>
          <a:prstGeom prst="roundRect">
            <a:avLst/>
          </a:prstGeom>
          <a:solidFill>
            <a:srgbClr val="1C2B3F"/>
          </a:solidFill>
          <a:ln>
            <a:solidFill>
              <a:srgbClr val="1C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50" b="1">
                <a:solidFill>
                  <a:srgbClr val="FFFFFF"/>
                </a:solidFill>
                <a:latin typeface="Aptos"/>
              </a:defRPr>
            </a:pPr>
            <a:r>
              <a:t>BUY the standard core   +   BUILD selected differentiation   +   CONNECT through APIs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A5D5FB-23B5-A18D-8971-4819CEFE458F}"/>
              </a:ext>
            </a:extLst>
          </p:cNvPr>
          <p:cNvSpPr txBox="1"/>
          <p:nvPr/>
        </p:nvSpPr>
        <p:spPr>
          <a:xfrm>
            <a:off x="960120" y="5925312"/>
            <a:ext cx="10268712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30" b="1">
                <a:solidFill>
                  <a:srgbClr val="1C2B3F"/>
                </a:solidFill>
                <a:latin typeface="Aptos"/>
              </a:defRPr>
            </a:pPr>
            <a:r>
              <a:t>Why Hybrid?  Standardization for core retail processes + flexibility for customer-facing digital services.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9A4D316-F3FB-00C2-47BA-0ECDB144E8FB}"/>
              </a:ext>
            </a:extLst>
          </p:cNvPr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20" b="0">
                <a:solidFill>
                  <a:srgbClr val="636C77"/>
                </a:solidFill>
                <a:latin typeface="Aptos"/>
              </a:defRPr>
            </a:pPr>
            <a:r>
              <a:t>*SAP vendor-reported clean-core examples, not guaranteed SteppeMart results. Sources: SAP Clean Core Strategy; Kaspi.kz FY2024; CIO Lidl case.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739"/>
                </a:solidFill>
                <a:latin typeface="Aptos Display"/>
              </a:defRPr>
            </a:pPr>
            <a:r>
              <a:t>Recommendation for SteppeMart — HYBRID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8"/>
                </a:solidFill>
                <a:latin typeface="Aptos"/>
              </a:defRPr>
            </a:pPr>
            <a:r>
              <a:t>40 stores • 1,500 employees • separate sales, warehouse and accounting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960120" cy="384048"/>
          </a:xfrm>
          <a:prstGeom prst="roundRect">
            <a:avLst/>
          </a:prstGeom>
          <a:solidFill>
            <a:srgbClr val="417D5A"/>
          </a:solidFill>
          <a:ln>
            <a:solidFill>
              <a:srgbClr val="41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74519" y="1161288"/>
            <a:ext cx="2743200" cy="713232"/>
          </a:xfrm>
          <a:prstGeom prst="roundRect">
            <a:avLst/>
          </a:prstGeom>
          <a:solidFill>
            <a:srgbClr val="F4F7F9"/>
          </a:solidFill>
          <a:ln>
            <a:solidFill>
              <a:srgbClr val="41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72D"/>
                </a:solidFill>
                <a:latin typeface="Aptos"/>
              </a:defRPr>
            </a:pPr>
            <a:r>
              <a:t>Customer App /</a:t>
            </a:r>
            <a:br/>
            <a:r>
              <a:t>E-commerce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161288"/>
            <a:ext cx="2057400" cy="713232"/>
          </a:xfrm>
          <a:prstGeom prst="roundRect">
            <a:avLst/>
          </a:prstGeom>
          <a:solidFill>
            <a:srgbClr val="F4F7F9"/>
          </a:solidFill>
          <a:ln>
            <a:solidFill>
              <a:srgbClr val="41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72D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2148840"/>
            <a:ext cx="1920240" cy="530352"/>
          </a:xfrm>
          <a:prstGeom prst="roundRect">
            <a:avLst/>
          </a:prstGeom>
          <a:solidFill>
            <a:srgbClr val="1A2739"/>
          </a:solidFill>
          <a:ln>
            <a:solidFill>
              <a:srgbClr val="1A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API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035808"/>
            <a:ext cx="960120" cy="384048"/>
          </a:xfrm>
          <a:prstGeom prst="roundRect">
            <a:avLst/>
          </a:prstGeom>
          <a:solidFill>
            <a:srgbClr val="39639D"/>
          </a:solidFill>
          <a:ln>
            <a:solidFill>
              <a:srgbClr val="396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BUY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2852928"/>
            <a:ext cx="4434840" cy="914400"/>
          </a:xfrm>
          <a:prstGeom prst="roundRect">
            <a:avLst/>
          </a:prstGeom>
          <a:solidFill>
            <a:srgbClr val="39639D"/>
          </a:solidFill>
          <a:ln>
            <a:solidFill>
              <a:srgbClr val="396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PACKAGED ERP</a:t>
            </a:r>
            <a:br/>
            <a:r>
              <a:t>+ CENTRAL 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15968"/>
            <a:ext cx="17830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3272D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4315968"/>
            <a:ext cx="17830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3272D"/>
                </a:solidFill>
                <a:latin typeface="Aptos"/>
              </a:defRPr>
            </a:pPr>
            <a:r>
              <a:t>Warehouses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4315968"/>
            <a:ext cx="17830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3272D"/>
                </a:solidFill>
                <a:latin typeface="Aptos"/>
              </a:defRPr>
            </a:pPr>
            <a:r>
              <a:t>Accounting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4315968"/>
            <a:ext cx="17830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3272D"/>
                </a:solidFill>
                <a:latin typeface="Aptos"/>
              </a:defRPr>
            </a:pPr>
            <a:r>
              <a:t>Suppliers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17720" y="1517904"/>
            <a:ext cx="868680" cy="630936"/>
          </a:xfrm>
          <a:prstGeom prst="line">
            <a:avLst/>
          </a:prstGeom>
          <a:ln w="1778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583680" y="1517904"/>
            <a:ext cx="1051560" cy="630936"/>
          </a:xfrm>
          <a:prstGeom prst="line">
            <a:avLst/>
          </a:prstGeom>
          <a:ln w="1778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35040" y="2679192"/>
            <a:ext cx="0" cy="173736"/>
          </a:xfrm>
          <a:prstGeom prst="line">
            <a:avLst/>
          </a:prstGeom>
          <a:ln w="1778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810512" y="3767328"/>
            <a:ext cx="2807208" cy="548640"/>
          </a:xfrm>
          <a:prstGeom prst="line">
            <a:avLst/>
          </a:prstGeom>
          <a:ln w="1778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858768" y="3767328"/>
            <a:ext cx="1444752" cy="548640"/>
          </a:xfrm>
          <a:prstGeom prst="line">
            <a:avLst/>
          </a:prstGeom>
          <a:ln w="1778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916168" y="3767328"/>
            <a:ext cx="256032" cy="548640"/>
          </a:xfrm>
          <a:prstGeom prst="line">
            <a:avLst/>
          </a:prstGeom>
          <a:ln w="1778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49440" y="3767328"/>
            <a:ext cx="1024128" cy="548640"/>
          </a:xfrm>
          <a:prstGeom prst="line">
            <a:avLst/>
          </a:prstGeom>
          <a:ln w="1778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77240" y="5257800"/>
            <a:ext cx="33375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A2739"/>
                </a:solidFill>
                <a:latin typeface="Aptos"/>
              </a:defRPr>
            </a:pPr>
            <a:r>
              <a:t>STANDARDIZE</a:t>
            </a:r>
            <a:br/>
            <a:r>
              <a:t>Core retail processes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5257800"/>
            <a:ext cx="33375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A2739"/>
                </a:solidFill>
                <a:latin typeface="Aptos"/>
              </a:defRPr>
            </a:pPr>
            <a:r>
              <a:t>DIFFERENTIATE</a:t>
            </a:r>
            <a:br/>
            <a:r>
              <a:t>Selected digital services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5257800"/>
            <a:ext cx="33375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A2739"/>
                </a:solidFill>
                <a:latin typeface="Aptos"/>
              </a:defRPr>
            </a:pPr>
            <a:r>
              <a:t>INTEGRATE</a:t>
            </a:r>
            <a:br/>
            <a:r>
              <a:t>One shared data environment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" b="0">
                <a:solidFill>
                  <a:srgbClr val="697078"/>
                </a:solidFill>
                <a:latin typeface="Aptos"/>
              </a:defRPr>
            </a:pPr>
            <a:r>
              <a:t>SteppeMart facts from project brief. Architecture follows course concepts: central data, selective customization and API-based extensions.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739"/>
                </a:solidFill>
                <a:latin typeface="Aptos Display"/>
              </a:defRPr>
            </a:pPr>
            <a:r>
              <a:t>How SteppeMart Should Implement the Hybrid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8"/>
                </a:solidFill>
                <a:latin typeface="Aptos"/>
              </a:defRPr>
            </a:pPr>
            <a:r>
              <a:t>Reduce risk before a full rollout across all 40 stores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12164"/>
            <a:ext cx="3246120" cy="512568"/>
          </a:xfrm>
          <a:prstGeom prst="roundRect">
            <a:avLst/>
          </a:prstGeom>
          <a:solidFill>
            <a:srgbClr val="1A2739"/>
          </a:solidFill>
          <a:ln>
            <a:solidFill>
              <a:srgbClr val="1A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</a:defRPr>
            </a:pPr>
            <a:r>
              <a:t>1  DATA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2244"/>
            <a:ext cx="3246120" cy="1116076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80" b="0">
                <a:solidFill>
                  <a:srgbClr val="23272D"/>
                </a:solidFill>
                <a:latin typeface="Aptos"/>
              </a:defRPr>
            </a:pPr>
            <a:r>
              <a:t>Clean and validate sales,</a:t>
            </a:r>
            <a:br/>
            <a:r>
              <a:t>warehouse and accounting data</a:t>
            </a:r>
            <a:br/>
            <a:r>
              <a:t>before migration.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72941" y="1312164"/>
            <a:ext cx="3246120" cy="512568"/>
          </a:xfrm>
          <a:prstGeom prst="roundRect">
            <a:avLst/>
          </a:prstGeom>
          <a:solidFill>
            <a:srgbClr val="1A2739"/>
          </a:solidFill>
          <a:ln>
            <a:solidFill>
              <a:srgbClr val="1A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</a:defRPr>
            </a:pPr>
            <a:r>
              <a:t>2  PEOPLE /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2941" y="1952244"/>
            <a:ext cx="3246120" cy="1116076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80" b="0">
                <a:solidFill>
                  <a:srgbClr val="23272D"/>
                </a:solidFill>
                <a:latin typeface="Aptos"/>
              </a:defRPr>
            </a:pPr>
            <a:r>
              <a:t>Involve users early and provide</a:t>
            </a:r>
            <a:br/>
            <a:r>
              <a:t>communication +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87514" y="1312164"/>
            <a:ext cx="3246120" cy="512568"/>
          </a:xfrm>
          <a:prstGeom prst="roundRect">
            <a:avLst/>
          </a:prstGeom>
          <a:solidFill>
            <a:srgbClr val="1A2739"/>
          </a:solidFill>
          <a:ln>
            <a:solidFill>
              <a:srgbClr val="1A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Aptos"/>
              </a:defRPr>
            </a:pPr>
            <a:r>
              <a:t>3 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87514" y="1952244"/>
            <a:ext cx="3246120" cy="1116076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80" b="0">
                <a:solidFill>
                  <a:srgbClr val="23272D"/>
                </a:solidFill>
                <a:latin typeface="Aptos"/>
              </a:defRPr>
            </a:pPr>
            <a:r>
              <a:t>Pilot ERP, APIs and workflows</a:t>
            </a:r>
            <a:br/>
            <a:r>
              <a:t>before scaling.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559556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2739"/>
                </a:solidFill>
                <a:latin typeface="Aptos"/>
              </a:defRPr>
            </a:pPr>
            <a:r>
              <a:t>FIRST 3 PROJECT STEPS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80764"/>
            <a:ext cx="594360" cy="594360"/>
          </a:xfrm>
          <a:prstGeom prst="roundRect">
            <a:avLst/>
          </a:prstGeom>
          <a:solidFill>
            <a:srgbClr val="3A8182"/>
          </a:solidFill>
          <a:ln>
            <a:solidFill>
              <a:srgbClr val="3A8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0493" y="4234983"/>
            <a:ext cx="3019733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23272D"/>
                </a:solidFill>
                <a:latin typeface="Aptos"/>
              </a:defRPr>
            </a:pPr>
            <a:r>
              <a:rPr dirty="0"/>
              <a:t>Analyze &amp; standardize processes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080764"/>
            <a:ext cx="594360" cy="594360"/>
          </a:xfrm>
          <a:prstGeom prst="roundRect">
            <a:avLst/>
          </a:prstGeom>
          <a:solidFill>
            <a:srgbClr val="3A8182"/>
          </a:solidFill>
          <a:ln>
            <a:solidFill>
              <a:srgbClr val="3A8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238892"/>
            <a:ext cx="257851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23272D"/>
                </a:solidFill>
                <a:latin typeface="Aptos"/>
              </a:defRPr>
            </a:pPr>
            <a:r>
              <a:rPr dirty="0"/>
              <a:t>Select ERP + prepare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080764"/>
            <a:ext cx="594360" cy="594360"/>
          </a:xfrm>
          <a:prstGeom prst="roundRect">
            <a:avLst/>
          </a:prstGeom>
          <a:solidFill>
            <a:srgbClr val="3A8182"/>
          </a:solidFill>
          <a:ln>
            <a:solidFill>
              <a:srgbClr val="3A8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4238892"/>
            <a:ext cx="29718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23272D"/>
                </a:solidFill>
                <a:latin typeface="Aptos"/>
              </a:defRPr>
            </a:pPr>
            <a:r>
              <a:rPr dirty="0"/>
              <a:t>Pilot in a few stores → learn → scale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5486400"/>
            <a:ext cx="9509760" cy="640080"/>
          </a:xfrm>
          <a:prstGeom prst="roundRect">
            <a:avLst/>
          </a:prstGeom>
          <a:solidFill>
            <a:srgbClr val="F4F7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1A2739"/>
                </a:solidFill>
                <a:latin typeface="Aptos"/>
              </a:defRPr>
            </a:pPr>
            <a:r>
              <a:t>Success is not “installing software.” Success = shared data + working processes + user adoption + measurable business benefits.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" b="0">
                <a:solidFill>
                  <a:srgbClr val="697078"/>
                </a:solidFill>
                <a:latin typeface="Aptos"/>
              </a:defRPr>
            </a:pPr>
            <a:r>
              <a:t>Course concepts: data discipline, change management, phased delivery, benefit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712</Words>
  <Application>Microsoft Office PowerPoint</Application>
  <PresentationFormat>Широкоэкранный</PresentationFormat>
  <Paragraphs>92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Галымжомарт Бекмуратов</dc:creator>
  <cp:keywords/>
  <dc:description>generated using python-pptx</dc:description>
  <cp:lastModifiedBy>Galymzhomart Bekmuratov</cp:lastModifiedBy>
  <cp:revision>14</cp:revision>
  <dcterms:created xsi:type="dcterms:W3CDTF">2013-01-27T09:14:16Z</dcterms:created>
  <dcterms:modified xsi:type="dcterms:W3CDTF">2026-10-01T10:23:45Z</dcterms:modified>
  <cp:category/>
</cp:coreProperties>
</file>