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">
            <a:extLst>
              <a:ext uri="{FF2B5EF4-FFF2-40B4-BE49-F238E27FC236}">
                <a16:creationId xmlns:a16="http://schemas.microsoft.com/office/drawing/2014/main" id="{87958669-E6C5-89EC-A185-994302452CCA}"/>
              </a:ext>
            </a:extLst>
          </p:cNvPr>
          <p:cNvSpPr txBox="1"/>
          <p:nvPr/>
        </p:nvSpPr>
        <p:spPr>
          <a:xfrm>
            <a:off x="586740" y="333756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600" b="1">
                <a:solidFill>
                  <a:srgbClr val="1F2D3D"/>
                </a:solidFill>
              </a:defRPr>
            </a:pPr>
            <a:r>
              <a:t>Case 1: Kaspi.kz — Four-Step Framework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F79195FA-1119-8B04-4FD5-DB62CC2324C6}"/>
              </a:ext>
            </a:extLst>
          </p:cNvPr>
          <p:cNvSpPr txBox="1"/>
          <p:nvPr/>
        </p:nvSpPr>
        <p:spPr>
          <a:xfrm>
            <a:off x="605028" y="9006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646464"/>
                </a:solidFill>
              </a:defRPr>
            </a:pPr>
            <a:r>
              <a:t>Kazakhstan case</a:t>
            </a:r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0BC4761E-C8B9-A3F1-2018-8718F6F5E05D}"/>
              </a:ext>
            </a:extLst>
          </p:cNvPr>
          <p:cNvSpPr/>
          <p:nvPr/>
        </p:nvSpPr>
        <p:spPr>
          <a:xfrm>
            <a:off x="632460" y="1403604"/>
            <a:ext cx="53035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t>1. Application Type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Digital ecosystem — built in-house. Consumer and merchant apps connect payments, marketplace and fintech.</a:t>
            </a: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6AC48C0E-17B7-8477-F107-9EC59F142A47}"/>
              </a:ext>
            </a:extLst>
          </p:cNvPr>
          <p:cNvSpPr/>
          <p:nvPr/>
        </p:nvSpPr>
        <p:spPr>
          <a:xfrm>
            <a:off x="6118860" y="1403604"/>
            <a:ext cx="53035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t>2. Opportunity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Integrate different services on one platform, improve speed and support new digital services.</a:t>
            </a:r>
          </a:p>
        </p:txBody>
      </p:sp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78B82EA9-B167-5375-2F1E-62B73C20E2DF}"/>
              </a:ext>
            </a:extLst>
          </p:cNvPr>
          <p:cNvSpPr/>
          <p:nvPr/>
        </p:nvSpPr>
        <p:spPr>
          <a:xfrm>
            <a:off x="632460" y="3781044"/>
            <a:ext cx="53035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t>3. Challenge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Manage a large and complex ecosystem while keeping data and services connected.</a:t>
            </a: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3876FE76-E789-2252-DE70-A47AEC6D3523}"/>
              </a:ext>
            </a:extLst>
          </p:cNvPr>
          <p:cNvSpPr/>
          <p:nvPr/>
        </p:nvSpPr>
        <p:spPr>
          <a:xfrm>
            <a:off x="6118860" y="3781044"/>
            <a:ext cx="53035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t>4. Success Factor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Strong control of the platform and data. The integrated ecosystem supports customers and merchants.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8C3A0011-0DB6-7E08-5CB8-EBB4283995C3}"/>
              </a:ext>
            </a:extLst>
          </p:cNvPr>
          <p:cNvSpPr txBox="1"/>
          <p:nvPr/>
        </p:nvSpPr>
        <p:spPr>
          <a:xfrm>
            <a:off x="632460" y="629564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50">
                <a:solidFill>
                  <a:srgbClr val="737373"/>
                </a:solidFill>
              </a:defRPr>
            </a:pPr>
            <a:r>
              <a:t>Source basis: Lecture 5 — Kazakhstan cases and four-step framework.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>
            <a:extLst>
              <a:ext uri="{FF2B5EF4-FFF2-40B4-BE49-F238E27FC236}">
                <a16:creationId xmlns:a16="http://schemas.microsoft.com/office/drawing/2014/main" id="{FB543922-7E85-6D1B-AACD-95F713AEB7F9}"/>
              </a:ext>
            </a:extLst>
          </p:cNvPr>
          <p:cNvSpPr txBox="1"/>
          <p:nvPr/>
        </p:nvSpPr>
        <p:spPr>
          <a:xfrm>
            <a:off x="586740" y="333756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600" b="1">
                <a:solidFill>
                  <a:srgbClr val="1F2D3D"/>
                </a:solidFill>
              </a:defRPr>
            </a:pPr>
            <a:r>
              <a:t>Case 2: Lidl — Four-Step Framework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C60E7668-132A-8CF9-9FD7-FE28532CFCFC}"/>
              </a:ext>
            </a:extLst>
          </p:cNvPr>
          <p:cNvSpPr txBox="1"/>
          <p:nvPr/>
        </p:nvSpPr>
        <p:spPr>
          <a:xfrm>
            <a:off x="605028" y="9006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646464"/>
                </a:solidFill>
              </a:defRPr>
            </a:pPr>
            <a:r>
              <a:t>International case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A4D24C02-FAF6-ED66-403C-87782B7893B5}"/>
              </a:ext>
            </a:extLst>
          </p:cNvPr>
          <p:cNvSpPr/>
          <p:nvPr/>
        </p:nvSpPr>
        <p:spPr>
          <a:xfrm>
            <a:off x="632460" y="1403604"/>
            <a:ext cx="53035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t>1. Application Type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SAP merchandise system — packaged software that was heavily customized.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A7723DB6-4352-FEF6-358C-1A037EB95CE7}"/>
              </a:ext>
            </a:extLst>
          </p:cNvPr>
          <p:cNvSpPr/>
          <p:nvPr/>
        </p:nvSpPr>
        <p:spPr>
          <a:xfrm>
            <a:off x="6118860" y="1403604"/>
            <a:ext cx="53035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t>2. Opportunity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Replace the old legacy system and create a modern system for merchandise management.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A4CAF914-D15C-42D6-EF70-651A9C72F53E}"/>
              </a:ext>
            </a:extLst>
          </p:cNvPr>
          <p:cNvSpPr/>
          <p:nvPr/>
        </p:nvSpPr>
        <p:spPr>
          <a:xfrm>
            <a:off x="632460" y="3781044"/>
            <a:ext cx="53035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t>3. Challenge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The standard software did not fit an important Lidl inventory process. Heavy customization increased complexity.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A1042B69-CEDD-ABD7-8918-9C83DD64289B}"/>
              </a:ext>
            </a:extLst>
          </p:cNvPr>
          <p:cNvSpPr/>
          <p:nvPr/>
        </p:nvSpPr>
        <p:spPr>
          <a:xfrm>
            <a:off x="6118860" y="3781044"/>
            <a:ext cx="53035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t>4. Success Factor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Process fit was not checked well enough at an early stage. The project was later cancelled.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6A0ED9C4-F922-4C6A-62E7-5395321B0658}"/>
              </a:ext>
            </a:extLst>
          </p:cNvPr>
          <p:cNvSpPr txBox="1"/>
          <p:nvPr/>
        </p:nvSpPr>
        <p:spPr>
          <a:xfrm>
            <a:off x="632460" y="629564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50">
                <a:solidFill>
                  <a:srgbClr val="737373"/>
                </a:solidFill>
              </a:defRPr>
            </a:pPr>
            <a:r>
              <a:t>Source basis: Lecture 5 — Lidl case and four-step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Kaspi.kz vs. Lidl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What can SteppeMart learn?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27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 marL="73152" marR="73152" anchor="ctr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Kaspi.kz</a:t>
                      </a:r>
                    </a:p>
                  </a:txBody>
                  <a:tcPr marL="73152" marR="73152" anchor="ctr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Lidl</a:t>
                      </a:r>
                    </a:p>
                  </a:txBody>
                  <a:tcPr marL="73152" marR="73152" anchor="ctr"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232323"/>
                          </a:solidFill>
                        </a:defRPr>
                      </a:pPr>
                      <a:r>
                        <a:t>Application type</a:t>
                      </a:r>
                    </a:p>
                  </a:txBody>
                  <a:tcPr marL="73152" marR="7315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323"/>
                          </a:solidFill>
                        </a:defRPr>
                      </a:pPr>
                      <a:r>
                        <a:t>Ecosystem — built in-house</a:t>
                      </a:r>
                    </a:p>
                  </a:txBody>
                  <a:tcPr marL="73152" marR="7315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323"/>
                          </a:solidFill>
                        </a:defRPr>
                      </a:pPr>
                      <a:r>
                        <a:t>SAP merchandise system — bought/customized</a:t>
                      </a:r>
                    </a:p>
                  </a:txBody>
                  <a:tcPr marL="73152" marR="73152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232323"/>
                          </a:solidFill>
                        </a:defRPr>
                      </a:pPr>
                      <a:r>
                        <a:t>Opportunity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323"/>
                          </a:solidFill>
                        </a:defRPr>
                      </a:pPr>
                      <a:r>
                        <a:t>Integration and digital services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323"/>
                          </a:solidFill>
                        </a:defRPr>
                      </a:pPr>
                      <a:r>
                        <a:t>Replace legacy merchandise system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232323"/>
                          </a:solidFill>
                        </a:defRPr>
                      </a:pPr>
                      <a:r>
                        <a:rPr dirty="0"/>
                        <a:t>Challenge</a:t>
                      </a:r>
                    </a:p>
                  </a:txBody>
                  <a:tcPr marL="73152" marR="7315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323"/>
                          </a:solidFill>
                        </a:defRPr>
                      </a:pPr>
                      <a:r>
                        <a:t>Manage a complex integrated platform</a:t>
                      </a:r>
                    </a:p>
                  </a:txBody>
                  <a:tcPr marL="73152" marR="7315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323"/>
                          </a:solidFill>
                        </a:defRPr>
                      </a:pPr>
                      <a:r>
                        <a:t>Process-system mismatch; heavy customization</a:t>
                      </a:r>
                    </a:p>
                  </a:txBody>
                  <a:tcPr marL="73152" marR="73152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232323"/>
                          </a:solidFill>
                        </a:defRPr>
                      </a:pPr>
                      <a:r>
                        <a:t>Success factor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323"/>
                          </a:solidFill>
                        </a:defRPr>
                      </a:pPr>
                      <a:r>
                        <a:t>Control of platform and data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323"/>
                          </a:solidFill>
                        </a:defRPr>
                      </a:pPr>
                      <a:r>
                        <a:t>Process fit was not solved early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232323"/>
                          </a:solidFill>
                        </a:defRPr>
                      </a:pPr>
                      <a:r>
                        <a:t>Outcome / lesson</a:t>
                      </a:r>
                    </a:p>
                  </a:txBody>
                  <a:tcPr marL="73152" marR="7315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323"/>
                          </a:solidFill>
                        </a:defRPr>
                      </a:pPr>
                      <a:r>
                        <a:t>Integrated ecosystem</a:t>
                      </a:r>
                    </a:p>
                  </a:txBody>
                  <a:tcPr marL="73152" marR="7315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323"/>
                          </a:solidFill>
                        </a:defRPr>
                      </a:pPr>
                      <a:r>
                        <a:rPr dirty="0"/>
                        <a:t>Project cancelled — limit customization</a:t>
                      </a:r>
                    </a:p>
                  </a:txBody>
                  <a:tcPr marL="73152" marR="73152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Framework: application type, opportunity, challenge, success factor, outcome.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1">
            <a:extLst>
              <a:ext uri="{FF2B5EF4-FFF2-40B4-BE49-F238E27FC236}">
                <a16:creationId xmlns:a16="http://schemas.microsoft.com/office/drawing/2014/main" id="{E48B70C2-B9DD-2EB1-F736-5615E1A150F5}"/>
              </a:ext>
            </a:extLst>
          </p:cNvPr>
          <p:cNvSpPr txBox="1"/>
          <p:nvPr/>
        </p:nvSpPr>
        <p:spPr>
          <a:xfrm>
            <a:off x="586740" y="26060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600" b="1">
                <a:solidFill>
                  <a:srgbClr val="1F2D3D"/>
                </a:solidFill>
              </a:defRPr>
            </a:pPr>
            <a:r>
              <a:t>Recommendation for SteppeMart: Hybrid Approach</a:t>
            </a:r>
          </a:p>
        </p:txBody>
      </p:sp>
      <p:sp>
        <p:nvSpPr>
          <p:cNvPr id="39" name="TextBox 2">
            <a:extLst>
              <a:ext uri="{FF2B5EF4-FFF2-40B4-BE49-F238E27FC236}">
                <a16:creationId xmlns:a16="http://schemas.microsoft.com/office/drawing/2014/main" id="{185B4A7F-9488-37E9-37D2-1C7F90F8A1C9}"/>
              </a:ext>
            </a:extLst>
          </p:cNvPr>
          <p:cNvSpPr txBox="1"/>
          <p:nvPr/>
        </p:nvSpPr>
        <p:spPr>
          <a:xfrm>
            <a:off x="605028" y="8092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>
                <a:solidFill>
                  <a:srgbClr val="5A5A5A"/>
                </a:solidFill>
              </a:defRPr>
            </a:pPr>
            <a:r>
              <a:t>BUY the standard core • BUILD selected digital services • CONNECT through APIs</a:t>
            </a:r>
          </a:p>
        </p:txBody>
      </p: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7ACCAFDE-8530-5169-4A3B-10A5057EFAC0}"/>
              </a:ext>
            </a:extLst>
          </p:cNvPr>
          <p:cNvSpPr/>
          <p:nvPr/>
        </p:nvSpPr>
        <p:spPr>
          <a:xfrm>
            <a:off x="678180" y="1266444"/>
            <a:ext cx="1051560" cy="384048"/>
          </a:xfrm>
          <a:prstGeom prst="roundRect">
            <a:avLst/>
          </a:prstGeom>
          <a:solidFill>
            <a:srgbClr val="5B8A65"/>
          </a:solidFill>
          <a:ln w="15240">
            <a:solidFill>
              <a:srgbClr val="5B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sp>
        <p:nvSpPr>
          <p:cNvPr id="41" name="Rounded Rectangle 4">
            <a:extLst>
              <a:ext uri="{FF2B5EF4-FFF2-40B4-BE49-F238E27FC236}">
                <a16:creationId xmlns:a16="http://schemas.microsoft.com/office/drawing/2014/main" id="{FD9280AE-7A79-56CE-233F-EE44076E2509}"/>
              </a:ext>
            </a:extLst>
          </p:cNvPr>
          <p:cNvSpPr/>
          <p:nvPr/>
        </p:nvSpPr>
        <p:spPr>
          <a:xfrm>
            <a:off x="1958340" y="1202436"/>
            <a:ext cx="3017520" cy="82296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5B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1F2D3D"/>
                </a:solidFill>
              </a:defRPr>
            </a:pPr>
            <a:r>
              <a:t>Custom E-commerce /</a:t>
            </a:r>
            <a:br/>
            <a:r>
              <a:t>Customer App</a:t>
            </a:r>
          </a:p>
        </p:txBody>
      </p: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3247CE98-8E2B-18EB-DBF4-B8683790EBA3}"/>
              </a:ext>
            </a:extLst>
          </p:cNvPr>
          <p:cNvSpPr/>
          <p:nvPr/>
        </p:nvSpPr>
        <p:spPr>
          <a:xfrm>
            <a:off x="7261860" y="1202436"/>
            <a:ext cx="2057400" cy="82296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5B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1F2D3D"/>
                </a:solidFill>
              </a:defRPr>
            </a:pPr>
            <a:r>
              <a:t>Customers</a:t>
            </a:r>
          </a:p>
        </p:txBody>
      </p:sp>
      <p:sp>
        <p:nvSpPr>
          <p:cNvPr id="43" name="Rounded Rectangle 6">
            <a:extLst>
              <a:ext uri="{FF2B5EF4-FFF2-40B4-BE49-F238E27FC236}">
                <a16:creationId xmlns:a16="http://schemas.microsoft.com/office/drawing/2014/main" id="{B3F09CD0-3071-69C2-276C-6D70EB3E39BD}"/>
              </a:ext>
            </a:extLst>
          </p:cNvPr>
          <p:cNvSpPr/>
          <p:nvPr/>
        </p:nvSpPr>
        <p:spPr>
          <a:xfrm>
            <a:off x="5131308" y="2272284"/>
            <a:ext cx="1874519" cy="594360"/>
          </a:xfrm>
          <a:prstGeom prst="roundRect">
            <a:avLst/>
          </a:prstGeom>
          <a:solidFill>
            <a:srgbClr val="1F2D3D"/>
          </a:solidFill>
          <a:ln w="15240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API LAYER</a:t>
            </a:r>
          </a:p>
        </p:txBody>
      </p:sp>
      <p:sp>
        <p:nvSpPr>
          <p:cNvPr id="44" name="Rounded Rectangle 7">
            <a:extLst>
              <a:ext uri="{FF2B5EF4-FFF2-40B4-BE49-F238E27FC236}">
                <a16:creationId xmlns:a16="http://schemas.microsoft.com/office/drawing/2014/main" id="{919C45D5-5D4E-0702-BB2C-4F0569E61B83}"/>
              </a:ext>
            </a:extLst>
          </p:cNvPr>
          <p:cNvSpPr/>
          <p:nvPr/>
        </p:nvSpPr>
        <p:spPr>
          <a:xfrm>
            <a:off x="678180" y="3214116"/>
            <a:ext cx="1051560" cy="384048"/>
          </a:xfrm>
          <a:prstGeom prst="roundRect">
            <a:avLst/>
          </a:prstGeom>
          <a:solidFill>
            <a:srgbClr val="4472C4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BUY</a:t>
            </a:r>
          </a:p>
        </p:txBody>
      </p:sp>
      <p:sp>
        <p:nvSpPr>
          <p:cNvPr id="45" name="Rounded Rectangle 8">
            <a:extLst>
              <a:ext uri="{FF2B5EF4-FFF2-40B4-BE49-F238E27FC236}">
                <a16:creationId xmlns:a16="http://schemas.microsoft.com/office/drawing/2014/main" id="{855D652E-D3B1-1DEB-0C90-D76570AB5C39}"/>
              </a:ext>
            </a:extLst>
          </p:cNvPr>
          <p:cNvSpPr/>
          <p:nvPr/>
        </p:nvSpPr>
        <p:spPr>
          <a:xfrm>
            <a:off x="3832860" y="3031236"/>
            <a:ext cx="4343400" cy="1051560"/>
          </a:xfrm>
          <a:prstGeom prst="roundRect">
            <a:avLst/>
          </a:prstGeom>
          <a:solidFill>
            <a:srgbClr val="4472C4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PACKAGED ERP</a:t>
            </a:r>
            <a:br>
              <a:rPr dirty="0"/>
            </a:br>
            <a:r>
              <a:rPr dirty="0"/>
              <a:t>+ CENTRAL DATABASE</a:t>
            </a:r>
          </a:p>
        </p:txBody>
      </p:sp>
      <p:sp>
        <p:nvSpPr>
          <p:cNvPr id="46" name="Rounded Rectangle 9">
            <a:extLst>
              <a:ext uri="{FF2B5EF4-FFF2-40B4-BE49-F238E27FC236}">
                <a16:creationId xmlns:a16="http://schemas.microsoft.com/office/drawing/2014/main" id="{D17009DB-4219-0B02-ECB3-1E07289FC97D}"/>
              </a:ext>
            </a:extLst>
          </p:cNvPr>
          <p:cNvSpPr/>
          <p:nvPr/>
        </p:nvSpPr>
        <p:spPr>
          <a:xfrm>
            <a:off x="1821180" y="4722876"/>
            <a:ext cx="1965960" cy="7315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1F2D3D"/>
                </a:solidFill>
              </a:defRPr>
            </a:pPr>
            <a:r>
              <a:t>Sales</a:t>
            </a:r>
          </a:p>
        </p:txBody>
      </p:sp>
      <p:sp>
        <p:nvSpPr>
          <p:cNvPr id="47" name="Rounded Rectangle 10">
            <a:extLst>
              <a:ext uri="{FF2B5EF4-FFF2-40B4-BE49-F238E27FC236}">
                <a16:creationId xmlns:a16="http://schemas.microsoft.com/office/drawing/2014/main" id="{CAB52AE6-64EE-77A0-8A12-CAC1F10389A8}"/>
              </a:ext>
            </a:extLst>
          </p:cNvPr>
          <p:cNvSpPr/>
          <p:nvPr/>
        </p:nvSpPr>
        <p:spPr>
          <a:xfrm>
            <a:off x="4015740" y="4722876"/>
            <a:ext cx="1965960" cy="7315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1F2D3D"/>
                </a:solidFill>
              </a:defRPr>
            </a:pPr>
            <a:r>
              <a:rPr dirty="0"/>
              <a:t>Warehouses</a:t>
            </a:r>
          </a:p>
        </p:txBody>
      </p:sp>
      <p:sp>
        <p:nvSpPr>
          <p:cNvPr id="48" name="Rounded Rectangle 11">
            <a:extLst>
              <a:ext uri="{FF2B5EF4-FFF2-40B4-BE49-F238E27FC236}">
                <a16:creationId xmlns:a16="http://schemas.microsoft.com/office/drawing/2014/main" id="{5AFF2C6F-3356-EFFB-B7F3-5B4E5BC95928}"/>
              </a:ext>
            </a:extLst>
          </p:cNvPr>
          <p:cNvSpPr/>
          <p:nvPr/>
        </p:nvSpPr>
        <p:spPr>
          <a:xfrm>
            <a:off x="6210300" y="4722876"/>
            <a:ext cx="1965960" cy="7315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1F2D3D"/>
                </a:solidFill>
              </a:defRPr>
            </a:pPr>
            <a:r>
              <a:t>Accounting</a:t>
            </a:r>
          </a:p>
        </p:txBody>
      </p:sp>
      <p:sp>
        <p:nvSpPr>
          <p:cNvPr id="49" name="Rounded Rectangle 12">
            <a:extLst>
              <a:ext uri="{FF2B5EF4-FFF2-40B4-BE49-F238E27FC236}">
                <a16:creationId xmlns:a16="http://schemas.microsoft.com/office/drawing/2014/main" id="{18D72FDD-C888-A270-9E3D-25B826536C91}"/>
              </a:ext>
            </a:extLst>
          </p:cNvPr>
          <p:cNvSpPr/>
          <p:nvPr/>
        </p:nvSpPr>
        <p:spPr>
          <a:xfrm>
            <a:off x="8404860" y="4722876"/>
            <a:ext cx="1965960" cy="7315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1F2D3D"/>
                </a:solidFill>
              </a:defRPr>
            </a:pPr>
            <a:r>
              <a:t>Suppliers</a:t>
            </a:r>
          </a:p>
        </p:txBody>
      </p:sp>
      <p:cxnSp>
        <p:nvCxnSpPr>
          <p:cNvPr id="50" name="Connector 13">
            <a:extLst>
              <a:ext uri="{FF2B5EF4-FFF2-40B4-BE49-F238E27FC236}">
                <a16:creationId xmlns:a16="http://schemas.microsoft.com/office/drawing/2014/main" id="{8EAE5A1F-CF60-D04C-5F07-BD8543C11F00}"/>
              </a:ext>
            </a:extLst>
          </p:cNvPr>
          <p:cNvCxnSpPr/>
          <p:nvPr/>
        </p:nvCxnSpPr>
        <p:spPr>
          <a:xfrm>
            <a:off x="4975860" y="1613916"/>
            <a:ext cx="685800" cy="658368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14">
            <a:extLst>
              <a:ext uri="{FF2B5EF4-FFF2-40B4-BE49-F238E27FC236}">
                <a16:creationId xmlns:a16="http://schemas.microsoft.com/office/drawing/2014/main" id="{9076A13A-F4E6-B4C7-1928-FEE8D7521C43}"/>
              </a:ext>
            </a:extLst>
          </p:cNvPr>
          <p:cNvCxnSpPr/>
          <p:nvPr/>
        </p:nvCxnSpPr>
        <p:spPr>
          <a:xfrm flipH="1">
            <a:off x="6438900" y="1613916"/>
            <a:ext cx="822960" cy="658368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5">
            <a:extLst>
              <a:ext uri="{FF2B5EF4-FFF2-40B4-BE49-F238E27FC236}">
                <a16:creationId xmlns:a16="http://schemas.microsoft.com/office/drawing/2014/main" id="{E25CBE9A-5DD7-BBDA-1107-E6FD762A9EE5}"/>
              </a:ext>
            </a:extLst>
          </p:cNvPr>
          <p:cNvCxnSpPr/>
          <p:nvPr/>
        </p:nvCxnSpPr>
        <p:spPr>
          <a:xfrm>
            <a:off x="6073140" y="2866644"/>
            <a:ext cx="0" cy="164592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6">
            <a:extLst>
              <a:ext uri="{FF2B5EF4-FFF2-40B4-BE49-F238E27FC236}">
                <a16:creationId xmlns:a16="http://schemas.microsoft.com/office/drawing/2014/main" id="{A2FC0294-189C-2A90-6793-8973D3A667B1}"/>
              </a:ext>
            </a:extLst>
          </p:cNvPr>
          <p:cNvCxnSpPr>
            <a:cxnSpLocks/>
            <a:endCxn id="46" idx="0"/>
          </p:cNvCxnSpPr>
          <p:nvPr/>
        </p:nvCxnSpPr>
        <p:spPr>
          <a:xfrm flipH="1">
            <a:off x="2804160" y="4082796"/>
            <a:ext cx="1897380" cy="64008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7">
            <a:extLst>
              <a:ext uri="{FF2B5EF4-FFF2-40B4-BE49-F238E27FC236}">
                <a16:creationId xmlns:a16="http://schemas.microsoft.com/office/drawing/2014/main" id="{C6A87088-F4B7-A955-33BF-788F85663958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4998720" y="4082796"/>
            <a:ext cx="388620" cy="64008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18">
            <a:extLst>
              <a:ext uri="{FF2B5EF4-FFF2-40B4-BE49-F238E27FC236}">
                <a16:creationId xmlns:a16="http://schemas.microsoft.com/office/drawing/2014/main" id="{ED6BD725-722D-BF53-CD42-0CD284ED6F8F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6256020" y="4082796"/>
            <a:ext cx="937260" cy="64008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19">
            <a:extLst>
              <a:ext uri="{FF2B5EF4-FFF2-40B4-BE49-F238E27FC236}">
                <a16:creationId xmlns:a16="http://schemas.microsoft.com/office/drawing/2014/main" id="{1ACE6079-9B49-976F-8848-71563A260A18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6987540" y="4082796"/>
            <a:ext cx="2400300" cy="64008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20">
            <a:extLst>
              <a:ext uri="{FF2B5EF4-FFF2-40B4-BE49-F238E27FC236}">
                <a16:creationId xmlns:a16="http://schemas.microsoft.com/office/drawing/2014/main" id="{EC4D452D-1C15-B034-2256-D2F6EF00418C}"/>
              </a:ext>
            </a:extLst>
          </p:cNvPr>
          <p:cNvSpPr txBox="1"/>
          <p:nvPr/>
        </p:nvSpPr>
        <p:spPr>
          <a:xfrm>
            <a:off x="815340" y="5774436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50">
                <a:solidFill>
                  <a:srgbClr val="282828"/>
                </a:solidFill>
              </a:defRPr>
            </a:pPr>
            <a:r>
              <a:t>Why hybrid?  Integration through one data core  •  Standard ERP for common processes  •  Flexibility for customer-facing services</a:t>
            </a:r>
          </a:p>
        </p:txBody>
      </p:sp>
      <p:sp>
        <p:nvSpPr>
          <p:cNvPr id="58" name="TextBox 21">
            <a:extLst>
              <a:ext uri="{FF2B5EF4-FFF2-40B4-BE49-F238E27FC236}">
                <a16:creationId xmlns:a16="http://schemas.microsoft.com/office/drawing/2014/main" id="{188646AD-5AB2-DE02-5D28-B82731D973B2}"/>
              </a:ext>
            </a:extLst>
          </p:cNvPr>
          <p:cNvSpPr txBox="1"/>
          <p:nvPr/>
        </p:nvSpPr>
        <p:spPr>
          <a:xfrm>
            <a:off x="632460" y="641451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50">
                <a:solidFill>
                  <a:srgbClr val="737373"/>
                </a:solidFill>
              </a:defRPr>
            </a:pPr>
            <a:r>
              <a:t>Target system: departments, suppliers and customers connect through the ERP core and API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Main Risks and First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2D3D"/>
                </a:solidFill>
              </a:defRPr>
            </a:pPr>
            <a:r>
              <a:t>Top 3 risks → mitigation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074920" cy="960120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rPr dirty="0"/>
              <a:t>1. Poor data quality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Clean and validate data before migration.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5074920" cy="960120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t>2. Employee resistance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Communicate early and train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5074920" cy="960120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F2D3D"/>
                </a:solidFill>
              </a:defRPr>
            </a:pPr>
            <a:r>
              <a:t>3. Integration problems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Pilot first, test interfaces, then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2D3D"/>
                </a:solidFill>
              </a:defRPr>
            </a:pPr>
            <a:r>
              <a:t>First 3 project steps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1874519"/>
            <a:ext cx="594360" cy="59436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783080"/>
            <a:ext cx="4251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D3D"/>
                </a:solidFill>
              </a:defRPr>
            </a:pPr>
            <a:r>
              <a:t>Analyze &amp; standardize</a:t>
            </a:r>
          </a:p>
          <a:p>
            <a:pPr>
              <a:defRPr sz="1350">
                <a:solidFill>
                  <a:srgbClr val="232323"/>
                </a:solidFill>
              </a:defRPr>
            </a:pPr>
            <a:r>
              <a:t>Define requirements and improve key processes.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3108960"/>
            <a:ext cx="594360" cy="59436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017520"/>
            <a:ext cx="4251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D3D"/>
                </a:solidFill>
              </a:defRPr>
            </a:pPr>
            <a:r>
              <a:t>Select ERP &amp; prepare data</a:t>
            </a:r>
          </a:p>
          <a:p>
            <a:pPr>
              <a:defRPr sz="1350">
                <a:solidFill>
                  <a:srgbClr val="232323"/>
                </a:solidFill>
              </a:defRPr>
            </a:pPr>
            <a:r>
              <a:t>Choose the core system and clean legacy data.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4343400"/>
            <a:ext cx="594360" cy="59436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4251960"/>
            <a:ext cx="4251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D3D"/>
                </a:solidFill>
              </a:defRPr>
            </a:pPr>
            <a:r>
              <a:rPr dirty="0"/>
              <a:t>Pilot &amp; scale</a:t>
            </a:r>
          </a:p>
          <a:p>
            <a:pPr>
              <a:defRPr sz="1350">
                <a:solidFill>
                  <a:srgbClr val="232323"/>
                </a:solidFill>
              </a:defRPr>
            </a:pPr>
            <a:r>
              <a:rPr dirty="0"/>
              <a:t>Test in a few stores, learn, then roll 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Course concepts: data discipline, change management, phased delivery and process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461</Words>
  <Application>Microsoft Office PowerPoint</Application>
  <PresentationFormat>Широкоэкранный</PresentationFormat>
  <Paragraphs>76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Galymzhomart Bekmuratov</cp:lastModifiedBy>
  <cp:revision>6</cp:revision>
  <dcterms:created xsi:type="dcterms:W3CDTF">2013-01-27T09:14:16Z</dcterms:created>
  <dcterms:modified xsi:type="dcterms:W3CDTF">2026-10-01T08:17:26Z</dcterms:modified>
  <cp:category/>
</cp:coreProperties>
</file>